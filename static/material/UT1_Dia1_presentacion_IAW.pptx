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Se usa dos veces: a las 18:50 para la demostración (diapositiva 3) y a las 20:05 para los tres bloques.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segundos. Que sepan que esto sí cuenta y que no voy a hablar más de 10 minutos seguidos.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18:50: se usa en la demostración. Contar los 4 pasos y después, en mi máquina virtual: sudo apt install -y apache2, curl -I localhost y abrir la IP en el navegador: «It works!». Decir: lo que acabáis de ver es el paso 3; el martes que viene lo montáis vosotros.
20:05: repasarla en 1 minuto para arrancar el bloque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Preguntar: ¿la página de calificaciones del aula virtual es estática o dinámica? ¿Por qué? (cada uno ve sus notas: dinámica).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Hacer la prueba del código fuente en directo con la página del aula virtual: se ve HTML y JavaScript, no PHP. Esa es la prueba de que el PHP se ejecutó en 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Ejemplo: una tienda que calcula el precio con JavaScript. Si el servidor se fía del precio que le manda el navegador, el cliente puede cambiarlo antes de pagar.
Pasar al ejercicio 1. Pista para la h) del correo: va en los dos sitios, y esta diapositiva es la razón.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Señalar en la respuesta las tres partes: línea de estado, cabeceras y cuerpo. La línea en blanco separa las cabeceras del contenido.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Preguntar: si pido una página que no existe, ¿qué código me dan? (404). Si el PHP tiene un error, ¿qué familia? (5xx, culpa del servidor). Adelantar que en el ejercicio 2 una de las dos peticiones puede dar 301.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minuto de demo en directo con curl -I contra una web cualquiera. Dejar caer que ocultar la cabecera Server es una medida de seguridad: lo veremos al asegurar vuestro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Relacionar con la diapositiva 3: Apache es quien hace los pasos 2 y 3, PHP genera la página y MySQL le da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Insistir en los dos últimos: sin libapache2-mod-php, Apache enseña el código PHP en vez de ejecutarlo; sin php-mysql, PHP no puede conectar con la base de datos. Son los dos fallos típicos de la próxima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1 minuto. Recordar la captura del día 1: hasta el lunes a las 23:59.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626"/>
        </a:solidFill>
      </p:bgPr>
    </p:bg>
    <p:spTree>
      <p:nvGrpSpPr>
        <p:cNvPr id="1" name=""/>
        <p:cNvGrpSpPr/>
        <p:nvPr/>
      </p:nvGrpSpPr>
      <p:grpSpPr>
        <a:xfrm>
          <a:off x="0" y="0"/>
          <a:ext cx="0" cy="0"/>
          <a:chOff x="0" y="0"/>
          <a:chExt cx="0" cy="0"/>
        </a:xfrm>
      </p:grpSpPr>
      <p:sp>
        <p:nvSpPr>
          <p:cNvPr id="2" name="Text 0"/>
          <p:cNvSpPr txBox="1"/>
          <p:nvPr/>
        </p:nvSpPr>
        <p:spPr>
          <a:xfrm>
            <a:off x="0" y="411480"/>
            <a:ext cx="9144000" cy="320040"/>
          </a:xfrm>
          <a:prstGeom prst="rect">
            <a:avLst/>
          </a:prstGeom>
          <a:noFill/>
          <a:ln/>
        </p:spPr>
        <p:txBody>
          <a:bodyPr wrap="square" lIns="0" tIns="0" rIns="0" bIns="0" rtlCol="0" anchor="ctr"/>
          <a:lstStyle/>
          <a:p>
            <a:pPr algn="ctr" indent="0" marL="0">
              <a:buNone/>
            </a:pPr>
            <a:r>
              <a:rPr lang="en-US" sz="1400" b="1" dirty="0">
                <a:solidFill>
                  <a:srgbClr val="62A36C"/>
                </a:solidFill>
                <a:latin typeface="Courier New" pitchFamily="34" charset="0"/>
                <a:ea typeface="Courier New" pitchFamily="34" charset="-122"/>
                <a:cs typeface="Courier New" pitchFamily="34" charset="-120"/>
              </a:rPr>
              <a:t>alumno@iaw</a:t>
            </a:r>
            <a:pPr algn="ctr" indent="0" marL="0">
              <a:buNone/>
            </a:pPr>
            <a:r>
              <a:rPr lang="en-US" sz="1400" dirty="0">
                <a:solidFill>
                  <a:srgbClr val="B3B3B3"/>
                </a:solidFill>
                <a:latin typeface="Courier New" pitchFamily="34" charset="0"/>
                <a:ea typeface="Courier New" pitchFamily="34" charset="-122"/>
                <a:cs typeface="Courier New" pitchFamily="34" charset="-120"/>
              </a:rPr>
              <a:t>:~$ </a:t>
            </a:r>
            <a:pPr algn="ctr" indent="0" marL="0">
              <a:buNone/>
            </a:pPr>
            <a:r>
              <a:rPr lang="en-US" sz="1400" dirty="0">
                <a:solidFill>
                  <a:srgbClr val="FFFFFF"/>
                </a:solidFill>
                <a:latin typeface="Courier New" pitchFamily="34" charset="0"/>
                <a:ea typeface="Courier New" pitchFamily="34" charset="-122"/>
                <a:cs typeface="Courier New" pitchFamily="34" charset="-120"/>
              </a:rPr>
              <a:t>cat ut1/dia1.txt</a:t>
            </a:r>
            <a:endParaRPr lang="en-US" sz="1400" dirty="0"/>
          </a:p>
        </p:txBody>
      </p:sp>
      <p:sp>
        <p:nvSpPr>
          <p:cNvPr id="3" name="Shape 1"/>
          <p:cNvSpPr/>
          <p:nvPr/>
        </p:nvSpPr>
        <p:spPr>
          <a:xfrm>
            <a:off x="548640" y="1051560"/>
            <a:ext cx="8046720" cy="0"/>
          </a:xfrm>
          <a:prstGeom prst="line">
            <a:avLst/>
          </a:prstGeom>
          <a:noFill/>
          <a:ln w="19050">
            <a:solidFill>
              <a:srgbClr val="62A36C"/>
            </a:solidFill>
            <a:prstDash val="solid"/>
          </a:ln>
        </p:spPr>
      </p:sp>
      <p:sp>
        <p:nvSpPr>
          <p:cNvPr id="4" name="Text 2"/>
          <p:cNvSpPr txBox="1"/>
          <p:nvPr/>
        </p:nvSpPr>
        <p:spPr>
          <a:xfrm>
            <a:off x="457200" y="146304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UT1 · Instalación de servidores de aplicaciones web</a:t>
            </a:r>
            <a:endParaRPr lang="en-US" sz="2600" dirty="0"/>
          </a:p>
        </p:txBody>
      </p:sp>
      <p:sp>
        <p:nvSpPr>
          <p:cNvPr id="5" name="Text 3"/>
          <p:cNvSpPr txBox="1"/>
          <p:nvPr/>
        </p:nvSpPr>
        <p:spPr>
          <a:xfrm>
            <a:off x="457200" y="2148840"/>
            <a:ext cx="8229600" cy="41148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Día 1: cliente, servidor y HTTP</a:t>
            </a:r>
            <a:endParaRPr lang="en-US" sz="1800" dirty="0"/>
          </a:p>
        </p:txBody>
      </p:sp>
      <p:sp>
        <p:nvSpPr>
          <p:cNvPr id="6" name="Shape 4"/>
          <p:cNvSpPr/>
          <p:nvPr/>
        </p:nvSpPr>
        <p:spPr>
          <a:xfrm>
            <a:off x="548640" y="3017520"/>
            <a:ext cx="8046720" cy="0"/>
          </a:xfrm>
          <a:prstGeom prst="line">
            <a:avLst/>
          </a:prstGeom>
          <a:noFill/>
          <a:ln w="19050">
            <a:solidFill>
              <a:srgbClr val="62A36C"/>
            </a:solidFill>
            <a:prstDash val="solid"/>
          </a:ln>
        </p:spPr>
      </p:sp>
      <p:sp>
        <p:nvSpPr>
          <p:cNvPr id="7" name="Text 5"/>
          <p:cNvSpPr txBox="1"/>
          <p:nvPr/>
        </p:nvSpPr>
        <p:spPr>
          <a:xfrm>
            <a:off x="457200" y="3291840"/>
            <a:ext cx="8229600" cy="274320"/>
          </a:xfrm>
          <a:prstGeom prst="rect">
            <a:avLst/>
          </a:prstGeom>
          <a:noFill/>
          <a:ln/>
        </p:spPr>
        <p:txBody>
          <a:bodyPr wrap="square" lIns="0" tIns="0" rIns="0" bIns="0" rtlCol="0" anchor="ctr"/>
          <a:lstStyle/>
          <a:p>
            <a:pPr algn="ctr" indent="0" marL="0">
              <a:buNone/>
            </a:pPr>
            <a:r>
              <a:rPr lang="en-US" sz="1100" dirty="0">
                <a:solidFill>
                  <a:srgbClr val="B3B3B3"/>
                </a:solidFill>
                <a:latin typeface="Arial" pitchFamily="34" charset="0"/>
                <a:ea typeface="Arial" pitchFamily="34" charset="-122"/>
                <a:cs typeface="Arial" pitchFamily="34" charset="-120"/>
              </a:rPr>
              <a:t>RA1 · 0376 Implantación de Aplicaciones Web · 2º ASIR · IES Villaverde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52060"/>
            <a:ext cx="9144000" cy="91440"/>
          </a:xfrm>
          <a:prstGeom prst="rect">
            <a:avLst/>
          </a:prstGeom>
          <a:solidFill>
            <a:srgbClr val="262626"/>
          </a:solidFill>
          <a:ln w="12700">
            <a:solidFill>
              <a:srgbClr val="262626"/>
            </a:solidFill>
            <a:prstDash val="solid"/>
          </a:ln>
        </p:spPr>
      </p:sp>
      <p:sp>
        <p:nvSpPr>
          <p:cNvPr id="3" name="Text 1"/>
          <p:cNvSpPr txBox="1"/>
          <p:nvPr/>
        </p:nvSpPr>
        <p:spPr>
          <a:xfrm>
            <a:off x="8412480" y="4709160"/>
            <a:ext cx="457200" cy="27432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2</a:t>
            </a:r>
            <a:endParaRPr lang="en-US" sz="900" dirty="0"/>
          </a:p>
        </p:txBody>
      </p:sp>
      <p:sp>
        <p:nvSpPr>
          <p:cNvPr id="4" name="Text 2"/>
          <p:cNvSpPr txBox="1"/>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Hoy: tres bloques, tres ejercicios</a:t>
            </a:r>
            <a:endParaRPr lang="en-US" sz="2600" dirty="0"/>
          </a:p>
        </p:txBody>
      </p:sp>
      <p:sp>
        <p:nvSpPr>
          <p:cNvPr id="5" name="Text 3"/>
          <p:cNvSpPr txBox="1"/>
          <p:nvPr/>
        </p:nvSpPr>
        <p:spPr>
          <a:xfrm>
            <a:off x="457200" y="9144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Cada bloque: explicación corta y ejercicio corto</a:t>
            </a:r>
            <a:endParaRPr lang="en-US" sz="1200" dirty="0"/>
          </a:p>
        </p:txBody>
      </p:sp>
      <p:sp>
        <p:nvSpPr>
          <p:cNvPr id="6" name="Shape 4"/>
          <p:cNvSpPr/>
          <p:nvPr/>
        </p:nvSpPr>
        <p:spPr>
          <a:xfrm>
            <a:off x="457200" y="1371600"/>
            <a:ext cx="2606040" cy="2194560"/>
          </a:xfrm>
          <a:prstGeom prst="rect">
            <a:avLst/>
          </a:prstGeom>
          <a:solidFill>
            <a:srgbClr val="F3F3F3"/>
          </a:solidFill>
          <a:ln w="12700">
            <a:solidFill>
              <a:srgbClr val="D9D9D9"/>
            </a:solidFill>
            <a:prstDash val="solid"/>
          </a:ln>
        </p:spPr>
      </p:sp>
      <p:sp>
        <p:nvSpPr>
          <p:cNvPr id="7" name="Text 5"/>
          <p:cNvSpPr txBox="1"/>
          <p:nvPr/>
        </p:nvSpPr>
        <p:spPr>
          <a:xfrm>
            <a:off x="594360" y="1463040"/>
            <a:ext cx="2331720" cy="320040"/>
          </a:xfrm>
          <a:prstGeom prst="rect">
            <a:avLst/>
          </a:prstGeom>
          <a:noFill/>
          <a:ln/>
        </p:spPr>
        <p:txBody>
          <a:bodyPr wrap="square" lIns="0" tIns="0" rIns="0" bIns="0" rtlCol="0" anchor="t"/>
          <a:lstStyle/>
          <a:p>
            <a:pPr indent="0" marL="0">
              <a:buNone/>
            </a:pPr>
            <a:r>
              <a:rPr lang="en-US" sz="1400" b="1" dirty="0">
                <a:solidFill>
                  <a:srgbClr val="0E8420"/>
                </a:solidFill>
                <a:latin typeface="Arial" pitchFamily="34" charset="0"/>
                <a:ea typeface="Arial" pitchFamily="34" charset="-122"/>
                <a:cs typeface="Arial" pitchFamily="34" charset="-120"/>
              </a:rPr>
              <a:t>1 · Cliente y servidor</a:t>
            </a:r>
            <a:endParaRPr lang="en-US" sz="1400" dirty="0"/>
          </a:p>
        </p:txBody>
      </p:sp>
      <p:sp>
        <p:nvSpPr>
          <p:cNvPr id="8" name="Text 6"/>
          <p:cNvSpPr txBox="1"/>
          <p:nvPr/>
        </p:nvSpPr>
        <p:spPr>
          <a:xfrm>
            <a:off x="594360" y="1828800"/>
            <a:ext cx="2331720" cy="1645920"/>
          </a:xfrm>
          <a:prstGeom prst="rect">
            <a:avLst/>
          </a:prstGeom>
          <a:noFill/>
          <a:ln/>
        </p:spPr>
        <p:txBody>
          <a:bodyPr wrap="square" lIns="0" tIns="0" rIns="0" bIns="0" rtlCol="0" anchor="t"/>
          <a:lstStyle/>
          <a:p>
            <a:pPr indent="0" marL="0">
              <a:spcAft>
                <a:spcPts val="400"/>
              </a:spcAft>
              <a:buNone/>
            </a:pPr>
            <a:r>
              <a:rPr lang="en-US" sz="1200" dirty="0">
                <a:solidFill>
                  <a:srgbClr val="111111"/>
                </a:solidFill>
                <a:latin typeface="Arial" pitchFamily="34" charset="0"/>
                <a:ea typeface="Arial" pitchFamily="34" charset="-122"/>
                <a:cs typeface="Arial" pitchFamily="34" charset="-120"/>
              </a:rPr>
              <a:t>Qué se ejecuta en el navegador y qué en el servidor.</a:t>
            </a:r>
            <a:endParaRPr lang="en-US" sz="1200" dirty="0"/>
          </a:p>
        </p:txBody>
      </p:sp>
      <p:sp>
        <p:nvSpPr>
          <p:cNvPr id="9" name="Text 7"/>
          <p:cNvSpPr txBox="1"/>
          <p:nvPr/>
        </p:nvSpPr>
        <p:spPr>
          <a:xfrm>
            <a:off x="594360" y="3108960"/>
            <a:ext cx="2331720" cy="320040"/>
          </a:xfrm>
          <a:prstGeom prst="rect">
            <a:avLst/>
          </a:prstGeom>
          <a:noFill/>
          <a:ln/>
        </p:spPr>
        <p:txBody>
          <a:bodyPr wrap="square" lIns="0" tIns="0" rIns="0" bIns="0" rtlCol="0" anchor="ctr"/>
          <a:lstStyle/>
          <a:p>
            <a:pPr indent="0" marL="0">
              <a:buNone/>
            </a:pPr>
            <a:r>
              <a:rPr lang="en-US" sz="1200" b="1" dirty="0">
                <a:solidFill>
                  <a:srgbClr val="0E8420"/>
                </a:solidFill>
                <a:latin typeface="Arial" pitchFamily="34" charset="0"/>
                <a:ea typeface="Arial" pitchFamily="34" charset="-122"/>
                <a:cs typeface="Arial" pitchFamily="34" charset="-120"/>
              </a:rPr>
              <a:t>Ejercicio 1 · CE d)</a:t>
            </a:r>
            <a:endParaRPr lang="en-US" sz="1200" dirty="0"/>
          </a:p>
        </p:txBody>
      </p:sp>
      <p:sp>
        <p:nvSpPr>
          <p:cNvPr id="10" name="Shape 8"/>
          <p:cNvSpPr/>
          <p:nvPr/>
        </p:nvSpPr>
        <p:spPr>
          <a:xfrm>
            <a:off x="3246120" y="1371600"/>
            <a:ext cx="2606040" cy="2194560"/>
          </a:xfrm>
          <a:prstGeom prst="rect">
            <a:avLst/>
          </a:prstGeom>
          <a:solidFill>
            <a:srgbClr val="F3F3F3"/>
          </a:solidFill>
          <a:ln w="12700">
            <a:solidFill>
              <a:srgbClr val="D9D9D9"/>
            </a:solidFill>
            <a:prstDash val="solid"/>
          </a:ln>
        </p:spPr>
      </p:sp>
      <p:sp>
        <p:nvSpPr>
          <p:cNvPr id="11" name="Text 9"/>
          <p:cNvSpPr txBox="1"/>
          <p:nvPr/>
        </p:nvSpPr>
        <p:spPr>
          <a:xfrm>
            <a:off x="3383280" y="1463040"/>
            <a:ext cx="2331720" cy="320040"/>
          </a:xfrm>
          <a:prstGeom prst="rect">
            <a:avLst/>
          </a:prstGeom>
          <a:noFill/>
          <a:ln/>
        </p:spPr>
        <p:txBody>
          <a:bodyPr wrap="square" lIns="0" tIns="0" rIns="0" bIns="0" rtlCol="0" anchor="t"/>
          <a:lstStyle/>
          <a:p>
            <a:pPr indent="0" marL="0">
              <a:buNone/>
            </a:pPr>
            <a:r>
              <a:rPr lang="en-US" sz="1400" b="1" dirty="0">
                <a:solidFill>
                  <a:srgbClr val="0E8420"/>
                </a:solidFill>
                <a:latin typeface="Arial" pitchFamily="34" charset="0"/>
                <a:ea typeface="Arial" pitchFamily="34" charset="-122"/>
                <a:cs typeface="Arial" pitchFamily="34" charset="-120"/>
              </a:rPr>
              <a:t>2 · HTTP por dentro</a:t>
            </a:r>
            <a:endParaRPr lang="en-US" sz="1400" dirty="0"/>
          </a:p>
        </p:txBody>
      </p:sp>
      <p:sp>
        <p:nvSpPr>
          <p:cNvPr id="12" name="Text 10"/>
          <p:cNvSpPr txBox="1"/>
          <p:nvPr/>
        </p:nvSpPr>
        <p:spPr>
          <a:xfrm>
            <a:off x="3383280" y="1828800"/>
            <a:ext cx="2331720" cy="1645920"/>
          </a:xfrm>
          <a:prstGeom prst="rect">
            <a:avLst/>
          </a:prstGeom>
          <a:noFill/>
          <a:ln/>
        </p:spPr>
        <p:txBody>
          <a:bodyPr wrap="square" lIns="0" tIns="0" rIns="0" bIns="0" rtlCol="0" anchor="t"/>
          <a:lstStyle/>
          <a:p>
            <a:pPr indent="0" marL="0">
              <a:spcAft>
                <a:spcPts val="400"/>
              </a:spcAft>
              <a:buNone/>
            </a:pPr>
            <a:r>
              <a:rPr lang="en-US" sz="1200" dirty="0">
                <a:solidFill>
                  <a:srgbClr val="111111"/>
                </a:solidFill>
                <a:latin typeface="Arial" pitchFamily="34" charset="0"/>
                <a:ea typeface="Arial" pitchFamily="34" charset="-122"/>
                <a:cs typeface="Arial" pitchFamily="34" charset="-120"/>
              </a:rPr>
              <a:t>Cómo son la petición y la respuesta, y qué dicen los códigos.</a:t>
            </a:r>
            <a:endParaRPr lang="en-US" sz="1200" dirty="0"/>
          </a:p>
        </p:txBody>
      </p:sp>
      <p:sp>
        <p:nvSpPr>
          <p:cNvPr id="13" name="Text 11"/>
          <p:cNvSpPr txBox="1"/>
          <p:nvPr/>
        </p:nvSpPr>
        <p:spPr>
          <a:xfrm>
            <a:off x="3383280" y="3108960"/>
            <a:ext cx="2331720" cy="320040"/>
          </a:xfrm>
          <a:prstGeom prst="rect">
            <a:avLst/>
          </a:prstGeom>
          <a:noFill/>
          <a:ln/>
        </p:spPr>
        <p:txBody>
          <a:bodyPr wrap="square" lIns="0" tIns="0" rIns="0" bIns="0" rtlCol="0" anchor="ctr"/>
          <a:lstStyle/>
          <a:p>
            <a:pPr indent="0" marL="0">
              <a:buNone/>
            </a:pPr>
            <a:r>
              <a:rPr lang="en-US" sz="1200" b="1" dirty="0">
                <a:solidFill>
                  <a:srgbClr val="0E8420"/>
                </a:solidFill>
                <a:latin typeface="Arial" pitchFamily="34" charset="0"/>
                <a:ea typeface="Arial" pitchFamily="34" charset="-122"/>
                <a:cs typeface="Arial" pitchFamily="34" charset="-120"/>
              </a:rPr>
              <a:t>Ejercicio 2 · CE b)</a:t>
            </a:r>
            <a:endParaRPr lang="en-US" sz="1200" dirty="0"/>
          </a:p>
        </p:txBody>
      </p:sp>
      <p:sp>
        <p:nvSpPr>
          <p:cNvPr id="14" name="Shape 12"/>
          <p:cNvSpPr/>
          <p:nvPr/>
        </p:nvSpPr>
        <p:spPr>
          <a:xfrm>
            <a:off x="6035040" y="1371600"/>
            <a:ext cx="2606040" cy="2194560"/>
          </a:xfrm>
          <a:prstGeom prst="rect">
            <a:avLst/>
          </a:prstGeom>
          <a:solidFill>
            <a:srgbClr val="F3F3F3"/>
          </a:solidFill>
          <a:ln w="12700">
            <a:solidFill>
              <a:srgbClr val="D9D9D9"/>
            </a:solidFill>
            <a:prstDash val="solid"/>
          </a:ln>
        </p:spPr>
      </p:sp>
      <p:sp>
        <p:nvSpPr>
          <p:cNvPr id="15" name="Text 13"/>
          <p:cNvSpPr txBox="1"/>
          <p:nvPr/>
        </p:nvSpPr>
        <p:spPr>
          <a:xfrm>
            <a:off x="6172200" y="1463040"/>
            <a:ext cx="2331720" cy="320040"/>
          </a:xfrm>
          <a:prstGeom prst="rect">
            <a:avLst/>
          </a:prstGeom>
          <a:noFill/>
          <a:ln/>
        </p:spPr>
        <p:txBody>
          <a:bodyPr wrap="square" lIns="0" tIns="0" rIns="0" bIns="0" rtlCol="0" anchor="t"/>
          <a:lstStyle/>
          <a:p>
            <a:pPr indent="0" marL="0">
              <a:buNone/>
            </a:pPr>
            <a:r>
              <a:rPr lang="en-US" sz="1400" b="1" dirty="0">
                <a:solidFill>
                  <a:srgbClr val="0E8420"/>
                </a:solidFill>
                <a:latin typeface="Arial" pitchFamily="34" charset="0"/>
                <a:ea typeface="Arial" pitchFamily="34" charset="-122"/>
                <a:cs typeface="Arial" pitchFamily="34" charset="-120"/>
              </a:rPr>
              <a:t>3 · Las piezas de LAMP</a:t>
            </a:r>
            <a:endParaRPr lang="en-US" sz="1400" dirty="0"/>
          </a:p>
        </p:txBody>
      </p:sp>
      <p:sp>
        <p:nvSpPr>
          <p:cNvPr id="16" name="Text 14"/>
          <p:cNvSpPr txBox="1"/>
          <p:nvPr/>
        </p:nvSpPr>
        <p:spPr>
          <a:xfrm>
            <a:off x="6172200" y="1828800"/>
            <a:ext cx="2331720" cy="1645920"/>
          </a:xfrm>
          <a:prstGeom prst="rect">
            <a:avLst/>
          </a:prstGeom>
          <a:noFill/>
          <a:ln/>
        </p:spPr>
        <p:txBody>
          <a:bodyPr wrap="square" lIns="0" tIns="0" rIns="0" bIns="0" rtlCol="0" anchor="t"/>
          <a:lstStyle/>
          <a:p>
            <a:pPr indent="0" marL="0">
              <a:spcAft>
                <a:spcPts val="400"/>
              </a:spcAft>
              <a:buNone/>
            </a:pPr>
            <a:r>
              <a:rPr lang="en-US" sz="1200" dirty="0">
                <a:solidFill>
                  <a:srgbClr val="111111"/>
                </a:solidFill>
                <a:latin typeface="Arial" pitchFamily="34" charset="0"/>
                <a:ea typeface="Arial" pitchFamily="34" charset="-122"/>
                <a:cs typeface="Arial" pitchFamily="34" charset="-120"/>
              </a:rPr>
              <a:t>Qué software hace falta para montar un servidor web.</a:t>
            </a:r>
            <a:endParaRPr lang="en-US" sz="1200" dirty="0"/>
          </a:p>
        </p:txBody>
      </p:sp>
      <p:sp>
        <p:nvSpPr>
          <p:cNvPr id="17" name="Text 15"/>
          <p:cNvSpPr txBox="1"/>
          <p:nvPr/>
        </p:nvSpPr>
        <p:spPr>
          <a:xfrm>
            <a:off x="6172200" y="3108960"/>
            <a:ext cx="2331720" cy="320040"/>
          </a:xfrm>
          <a:prstGeom prst="rect">
            <a:avLst/>
          </a:prstGeom>
          <a:noFill/>
          <a:ln/>
        </p:spPr>
        <p:txBody>
          <a:bodyPr wrap="square" lIns="0" tIns="0" rIns="0" bIns="0" rtlCol="0" anchor="ctr"/>
          <a:lstStyle/>
          <a:p>
            <a:pPr indent="0" marL="0">
              <a:buNone/>
            </a:pPr>
            <a:r>
              <a:rPr lang="en-US" sz="1200" b="1" dirty="0">
                <a:solidFill>
                  <a:srgbClr val="0E8420"/>
                </a:solidFill>
                <a:latin typeface="Arial" pitchFamily="34" charset="0"/>
                <a:ea typeface="Arial" pitchFamily="34" charset="-122"/>
                <a:cs typeface="Arial" pitchFamily="34" charset="-120"/>
              </a:rPr>
              <a:t>Ejercicio 3 · CE a)</a:t>
            </a:r>
            <a:endParaRPr lang="en-US" sz="1200" dirty="0"/>
          </a:p>
        </p:txBody>
      </p:sp>
      <p:sp>
        <p:nvSpPr>
          <p:cNvPr id="18" name="Shape 16"/>
          <p:cNvSpPr/>
          <p:nvPr/>
        </p:nvSpPr>
        <p:spPr>
          <a:xfrm>
            <a:off x="457200" y="3840480"/>
            <a:ext cx="8229600" cy="457200"/>
          </a:xfrm>
          <a:prstGeom prst="rect">
            <a:avLst/>
          </a:prstGeom>
          <a:solidFill>
            <a:srgbClr val="EDF8EB"/>
          </a:solidFill>
          <a:ln w="12700">
            <a:solidFill>
              <a:srgbClr val="0E8420"/>
            </a:solidFill>
            <a:prstDash val="solid"/>
          </a:ln>
        </p:spPr>
      </p:sp>
      <p:sp>
        <p:nvSpPr>
          <p:cNvPr id="19" name="Text 17"/>
          <p:cNvSpPr txBox="1"/>
          <p:nvPr/>
        </p:nvSpPr>
        <p:spPr>
          <a:xfrm>
            <a:off x="640080" y="3840480"/>
            <a:ext cx="7863840" cy="457200"/>
          </a:xfrm>
          <a:prstGeom prst="rect">
            <a:avLst/>
          </a:prstGeom>
          <a:noFill/>
          <a:ln/>
        </p:spPr>
        <p:txBody>
          <a:bodyPr wrap="square" lIns="0" tIns="0" rIns="0" bIns="0" rtlCol="0" anchor="ctr"/>
          <a:lstStyle/>
          <a:p>
            <a:pPr indent="0" marL="0">
              <a:buNone/>
            </a:pPr>
            <a:r>
              <a:rPr lang="en-US" sz="1200" dirty="0">
                <a:solidFill>
                  <a:srgbClr val="111111"/>
                </a:solidFill>
                <a:latin typeface="Arial" pitchFamily="34" charset="0"/>
                <a:ea typeface="Arial" pitchFamily="34" charset="-122"/>
                <a:cs typeface="Arial" pitchFamily="34" charset="-120"/>
              </a:rPr>
              <a:t>Los tres ejercicios van en un único PDF, que se sube al acabar la sesión. Cuentan para la nota.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52060"/>
            <a:ext cx="9144000" cy="91440"/>
          </a:xfrm>
          <a:prstGeom prst="rect">
            <a:avLst/>
          </a:prstGeom>
          <a:solidFill>
            <a:srgbClr val="262626"/>
          </a:solidFill>
          <a:ln w="12700">
            <a:solidFill>
              <a:srgbClr val="262626"/>
            </a:solidFill>
            <a:prstDash val="solid"/>
          </a:ln>
        </p:spPr>
      </p:sp>
      <p:sp>
        <p:nvSpPr>
          <p:cNvPr id="3" name="Text 1"/>
          <p:cNvSpPr txBox="1"/>
          <p:nvPr/>
        </p:nvSpPr>
        <p:spPr>
          <a:xfrm>
            <a:off x="8412480" y="4709160"/>
            <a:ext cx="457200" cy="27432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3</a:t>
            </a:r>
            <a:endParaRPr lang="en-US" sz="900" dirty="0"/>
          </a:p>
        </p:txBody>
      </p:sp>
      <p:sp>
        <p:nvSpPr>
          <p:cNvPr id="4" name="Text 2"/>
          <p:cNvSpPr txBox="1"/>
          <p:nvPr/>
        </p:nvSpPr>
        <p:spPr>
          <a:xfrm>
            <a:off x="457200" y="182880"/>
            <a:ext cx="8229600" cy="228600"/>
          </a:xfrm>
          <a:prstGeom prst="rect">
            <a:avLst/>
          </a:prstGeom>
          <a:noFill/>
          <a:ln/>
        </p:spPr>
        <p:txBody>
          <a:bodyPr wrap="square" lIns="0" tIns="0" rIns="0" bIns="0" rtlCol="0" anchor="ctr"/>
          <a:lstStyle/>
          <a:p>
            <a:pPr indent="0" marL="0">
              <a:buNone/>
            </a:pPr>
            <a:r>
              <a:rPr lang="en-US" sz="1000" b="1" dirty="0">
                <a:solidFill>
                  <a:srgbClr val="0E8420"/>
                </a:solidFill>
                <a:latin typeface="Arial" pitchFamily="34" charset="0"/>
                <a:ea typeface="Arial" pitchFamily="34" charset="-122"/>
                <a:cs typeface="Arial" pitchFamily="34" charset="-120"/>
              </a:rPr>
              <a:t>Bloque 1 · Cliente y servidor</a:t>
            </a:r>
            <a:endParaRPr lang="en-US" sz="1000" dirty="0"/>
          </a:p>
        </p:txBody>
      </p:sp>
      <p:sp>
        <p:nvSpPr>
          <p:cNvPr id="5" name="Text 3"/>
          <p:cNvSpPr txBox="1"/>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Qué pasa cuando escribes una dirección</a:t>
            </a:r>
            <a:endParaRPr lang="en-US" sz="2600" dirty="0"/>
          </a:p>
        </p:txBody>
      </p:sp>
      <p:sp>
        <p:nvSpPr>
          <p:cNvPr id="6" name="Text 4"/>
          <p:cNvSpPr txBox="1"/>
          <p:nvPr/>
        </p:nvSpPr>
        <p:spPr>
          <a:xfrm>
            <a:off x="457200" y="9144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De la barra del navegador a la página en pantalla</a:t>
            </a:r>
            <a:endParaRPr lang="en-US" sz="1200" dirty="0"/>
          </a:p>
        </p:txBody>
      </p:sp>
      <p:sp>
        <p:nvSpPr>
          <p:cNvPr id="7" name="Shape 5"/>
          <p:cNvSpPr/>
          <p:nvPr/>
        </p:nvSpPr>
        <p:spPr>
          <a:xfrm>
            <a:off x="457200" y="1463040"/>
            <a:ext cx="1828800" cy="2103120"/>
          </a:xfrm>
          <a:prstGeom prst="rect">
            <a:avLst/>
          </a:prstGeom>
          <a:solidFill>
            <a:srgbClr val="F3F3F3"/>
          </a:solidFill>
          <a:ln w="12700">
            <a:solidFill>
              <a:srgbClr val="D9D9D9"/>
            </a:solidFill>
            <a:prstDash val="solid"/>
          </a:ln>
        </p:spPr>
      </p:sp>
      <p:sp>
        <p:nvSpPr>
          <p:cNvPr id="8" name="Shape 6"/>
          <p:cNvSpPr/>
          <p:nvPr/>
        </p:nvSpPr>
        <p:spPr>
          <a:xfrm>
            <a:off x="594360" y="1600200"/>
            <a:ext cx="411480" cy="411480"/>
          </a:xfrm>
          <a:prstGeom prst="ellipse">
            <a:avLst/>
          </a:prstGeom>
          <a:solidFill>
            <a:srgbClr val="0E8420"/>
          </a:solidFill>
          <a:ln w="12700">
            <a:solidFill>
              <a:srgbClr val="0E8420"/>
            </a:solidFill>
            <a:prstDash val="solid"/>
          </a:ln>
        </p:spPr>
      </p:sp>
      <p:sp>
        <p:nvSpPr>
          <p:cNvPr id="9" name="Text 7"/>
          <p:cNvSpPr txBox="1"/>
          <p:nvPr/>
        </p:nvSpPr>
        <p:spPr>
          <a:xfrm>
            <a:off x="594360" y="1600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594360" y="2103120"/>
            <a:ext cx="1600200" cy="36576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El navegador pide</a:t>
            </a:r>
            <a:endParaRPr lang="en-US" sz="1200" dirty="0"/>
          </a:p>
        </p:txBody>
      </p:sp>
      <p:sp>
        <p:nvSpPr>
          <p:cNvPr id="11" name="Text 9"/>
          <p:cNvSpPr txBox="1"/>
          <p:nvPr/>
        </p:nvSpPr>
        <p:spPr>
          <a:xfrm>
            <a:off x="594360" y="2514600"/>
            <a:ext cx="1600200" cy="1005840"/>
          </a:xfrm>
          <a:prstGeom prst="rect">
            <a:avLst/>
          </a:prstGeom>
          <a:noFill/>
          <a:ln/>
        </p:spPr>
        <p:txBody>
          <a:bodyPr wrap="square" lIns="0" tIns="0" rIns="0" bIns="0" rtlCol="0" anchor="t"/>
          <a:lstStyle/>
          <a:p>
            <a:pPr indent="0" marL="0">
              <a:buNone/>
            </a:pPr>
            <a:r>
              <a:rPr lang="en-US" sz="1100" dirty="0">
                <a:solidFill>
                  <a:srgbClr val="111111"/>
                </a:solidFill>
                <a:latin typeface="Arial" pitchFamily="34" charset="0"/>
                <a:ea typeface="Arial" pitchFamily="34" charset="-122"/>
                <a:cs typeface="Arial" pitchFamily="34" charset="-120"/>
              </a:rPr>
              <a:t>Envía una petición HTTP al servidor.</a:t>
            </a:r>
            <a:endParaRPr lang="en-US" sz="1100" dirty="0"/>
          </a:p>
        </p:txBody>
      </p:sp>
      <p:sp>
        <p:nvSpPr>
          <p:cNvPr id="12" name="Text 10"/>
          <p:cNvSpPr txBox="1"/>
          <p:nvPr/>
        </p:nvSpPr>
        <p:spPr>
          <a:xfrm>
            <a:off x="2286000" y="2286000"/>
            <a:ext cx="274320" cy="365760"/>
          </a:xfrm>
          <a:prstGeom prst="rect">
            <a:avLst/>
          </a:prstGeom>
          <a:noFill/>
          <a:ln/>
        </p:spPr>
        <p:txBody>
          <a:bodyPr wrap="square" lIns="0" tIns="0" rIns="0" bIns="0" rtlCol="0" anchor="ctr"/>
          <a:lstStyle/>
          <a:p>
            <a:pPr algn="ctr" indent="0" marL="0">
              <a:buNone/>
            </a:pPr>
            <a:r>
              <a:rPr lang="en-US" sz="1800" b="1" dirty="0">
                <a:solidFill>
                  <a:srgbClr val="0E842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2560320" y="1463040"/>
            <a:ext cx="1828800" cy="2103120"/>
          </a:xfrm>
          <a:prstGeom prst="rect">
            <a:avLst/>
          </a:prstGeom>
          <a:solidFill>
            <a:srgbClr val="F3F3F3"/>
          </a:solidFill>
          <a:ln w="12700">
            <a:solidFill>
              <a:srgbClr val="D9D9D9"/>
            </a:solidFill>
            <a:prstDash val="solid"/>
          </a:ln>
        </p:spPr>
      </p:sp>
      <p:sp>
        <p:nvSpPr>
          <p:cNvPr id="14" name="Shape 12"/>
          <p:cNvSpPr/>
          <p:nvPr/>
        </p:nvSpPr>
        <p:spPr>
          <a:xfrm>
            <a:off x="2697480" y="1600200"/>
            <a:ext cx="411480" cy="411480"/>
          </a:xfrm>
          <a:prstGeom prst="ellipse">
            <a:avLst/>
          </a:prstGeom>
          <a:solidFill>
            <a:srgbClr val="0E8420"/>
          </a:solidFill>
          <a:ln w="12700">
            <a:solidFill>
              <a:srgbClr val="0E8420"/>
            </a:solidFill>
            <a:prstDash val="solid"/>
          </a:ln>
        </p:spPr>
      </p:sp>
      <p:sp>
        <p:nvSpPr>
          <p:cNvPr id="15" name="Text 13"/>
          <p:cNvSpPr txBox="1"/>
          <p:nvPr/>
        </p:nvSpPr>
        <p:spPr>
          <a:xfrm>
            <a:off x="2697480" y="1600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4"/>
          <p:cNvSpPr txBox="1"/>
          <p:nvPr/>
        </p:nvSpPr>
        <p:spPr>
          <a:xfrm>
            <a:off x="2697480" y="2103120"/>
            <a:ext cx="1600200" cy="36576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El servidor trabaja</a:t>
            </a:r>
            <a:endParaRPr lang="en-US" sz="1200" dirty="0"/>
          </a:p>
        </p:txBody>
      </p:sp>
      <p:sp>
        <p:nvSpPr>
          <p:cNvPr id="17" name="Text 15"/>
          <p:cNvSpPr txBox="1"/>
          <p:nvPr/>
        </p:nvSpPr>
        <p:spPr>
          <a:xfrm>
            <a:off x="2697480" y="2514600"/>
            <a:ext cx="1600200" cy="1005840"/>
          </a:xfrm>
          <a:prstGeom prst="rect">
            <a:avLst/>
          </a:prstGeom>
          <a:noFill/>
          <a:ln/>
        </p:spPr>
        <p:txBody>
          <a:bodyPr wrap="square" lIns="0" tIns="0" rIns="0" bIns="0" rtlCol="0" anchor="t"/>
          <a:lstStyle/>
          <a:p>
            <a:pPr indent="0" marL="0">
              <a:buNone/>
            </a:pPr>
            <a:r>
              <a:rPr lang="en-US" sz="1100" dirty="0">
                <a:solidFill>
                  <a:srgbClr val="111111"/>
                </a:solidFill>
                <a:latin typeface="Arial" pitchFamily="34" charset="0"/>
                <a:ea typeface="Arial" pitchFamily="34" charset="-122"/>
                <a:cs typeface="Arial" pitchFamily="34" charset="-120"/>
              </a:rPr>
              <a:t>Busca la página; si hace falta, ejecuta PHP y consulta la base de datos.</a:t>
            </a:r>
            <a:endParaRPr lang="en-US" sz="1100" dirty="0"/>
          </a:p>
        </p:txBody>
      </p:sp>
      <p:sp>
        <p:nvSpPr>
          <p:cNvPr id="18" name="Text 16"/>
          <p:cNvSpPr txBox="1"/>
          <p:nvPr/>
        </p:nvSpPr>
        <p:spPr>
          <a:xfrm>
            <a:off x="4389120" y="2286000"/>
            <a:ext cx="274320" cy="365760"/>
          </a:xfrm>
          <a:prstGeom prst="rect">
            <a:avLst/>
          </a:prstGeom>
          <a:noFill/>
          <a:ln/>
        </p:spPr>
        <p:txBody>
          <a:bodyPr wrap="square" lIns="0" tIns="0" rIns="0" bIns="0" rtlCol="0" anchor="ctr"/>
          <a:lstStyle/>
          <a:p>
            <a:pPr algn="ctr" indent="0" marL="0">
              <a:buNone/>
            </a:pPr>
            <a:r>
              <a:rPr lang="en-US" sz="1800" b="1" dirty="0">
                <a:solidFill>
                  <a:srgbClr val="0E8420"/>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4663440" y="1463040"/>
            <a:ext cx="1828800" cy="2103120"/>
          </a:xfrm>
          <a:prstGeom prst="rect">
            <a:avLst/>
          </a:prstGeom>
          <a:solidFill>
            <a:srgbClr val="F3F3F3"/>
          </a:solidFill>
          <a:ln w="12700">
            <a:solidFill>
              <a:srgbClr val="D9D9D9"/>
            </a:solidFill>
            <a:prstDash val="solid"/>
          </a:ln>
        </p:spPr>
      </p:sp>
      <p:sp>
        <p:nvSpPr>
          <p:cNvPr id="20" name="Shape 18"/>
          <p:cNvSpPr/>
          <p:nvPr/>
        </p:nvSpPr>
        <p:spPr>
          <a:xfrm>
            <a:off x="4800600" y="1600200"/>
            <a:ext cx="411480" cy="411480"/>
          </a:xfrm>
          <a:prstGeom prst="ellipse">
            <a:avLst/>
          </a:prstGeom>
          <a:solidFill>
            <a:srgbClr val="0E8420"/>
          </a:solidFill>
          <a:ln w="12700">
            <a:solidFill>
              <a:srgbClr val="0E8420"/>
            </a:solidFill>
            <a:prstDash val="solid"/>
          </a:ln>
        </p:spPr>
      </p:sp>
      <p:sp>
        <p:nvSpPr>
          <p:cNvPr id="21" name="Text 19"/>
          <p:cNvSpPr txBox="1"/>
          <p:nvPr/>
        </p:nvSpPr>
        <p:spPr>
          <a:xfrm>
            <a:off x="4800600" y="1600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txBox="1"/>
          <p:nvPr/>
        </p:nvSpPr>
        <p:spPr>
          <a:xfrm>
            <a:off x="4800600" y="2103120"/>
            <a:ext cx="1600200" cy="36576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El servidor responde</a:t>
            </a:r>
            <a:endParaRPr lang="en-US" sz="1200" dirty="0"/>
          </a:p>
        </p:txBody>
      </p:sp>
      <p:sp>
        <p:nvSpPr>
          <p:cNvPr id="23" name="Text 21"/>
          <p:cNvSpPr txBox="1"/>
          <p:nvPr/>
        </p:nvSpPr>
        <p:spPr>
          <a:xfrm>
            <a:off x="4800600" y="2514600"/>
            <a:ext cx="1600200" cy="1005840"/>
          </a:xfrm>
          <a:prstGeom prst="rect">
            <a:avLst/>
          </a:prstGeom>
          <a:noFill/>
          <a:ln/>
        </p:spPr>
        <p:txBody>
          <a:bodyPr wrap="square" lIns="0" tIns="0" rIns="0" bIns="0" rtlCol="0" anchor="t"/>
          <a:lstStyle/>
          <a:p>
            <a:pPr indent="0" marL="0">
              <a:buNone/>
            </a:pPr>
            <a:r>
              <a:rPr lang="en-US" sz="1100" dirty="0">
                <a:solidFill>
                  <a:srgbClr val="111111"/>
                </a:solidFill>
                <a:latin typeface="Arial" pitchFamily="34" charset="0"/>
                <a:ea typeface="Arial" pitchFamily="34" charset="-122"/>
                <a:cs typeface="Arial" pitchFamily="34" charset="-120"/>
              </a:rPr>
              <a:t>Devuelve HTML, o un código de error.</a:t>
            </a:r>
            <a:endParaRPr lang="en-US" sz="1100" dirty="0"/>
          </a:p>
        </p:txBody>
      </p:sp>
      <p:sp>
        <p:nvSpPr>
          <p:cNvPr id="24" name="Text 22"/>
          <p:cNvSpPr txBox="1"/>
          <p:nvPr/>
        </p:nvSpPr>
        <p:spPr>
          <a:xfrm>
            <a:off x="6492240" y="2286000"/>
            <a:ext cx="274320" cy="365760"/>
          </a:xfrm>
          <a:prstGeom prst="rect">
            <a:avLst/>
          </a:prstGeom>
          <a:noFill/>
          <a:ln/>
        </p:spPr>
        <p:txBody>
          <a:bodyPr wrap="square" lIns="0" tIns="0" rIns="0" bIns="0" rtlCol="0" anchor="ctr"/>
          <a:lstStyle/>
          <a:p>
            <a:pPr algn="ctr" indent="0" marL="0">
              <a:buNone/>
            </a:pPr>
            <a:r>
              <a:rPr lang="en-US" sz="1800" b="1" dirty="0">
                <a:solidFill>
                  <a:srgbClr val="0E8420"/>
                </a:solidFill>
                <a:latin typeface="Arial" pitchFamily="34" charset="0"/>
                <a:ea typeface="Arial" pitchFamily="34" charset="-122"/>
                <a:cs typeface="Arial" pitchFamily="34" charset="-120"/>
              </a:rPr>
              <a:t>→</a:t>
            </a:r>
            <a:endParaRPr lang="en-US" sz="1800" dirty="0"/>
          </a:p>
        </p:txBody>
      </p:sp>
      <p:sp>
        <p:nvSpPr>
          <p:cNvPr id="25" name="Shape 23"/>
          <p:cNvSpPr/>
          <p:nvPr/>
        </p:nvSpPr>
        <p:spPr>
          <a:xfrm>
            <a:off x="6766560" y="1463040"/>
            <a:ext cx="1828800" cy="2103120"/>
          </a:xfrm>
          <a:prstGeom prst="rect">
            <a:avLst/>
          </a:prstGeom>
          <a:solidFill>
            <a:srgbClr val="F3F3F3"/>
          </a:solidFill>
          <a:ln w="12700">
            <a:solidFill>
              <a:srgbClr val="D9D9D9"/>
            </a:solidFill>
            <a:prstDash val="solid"/>
          </a:ln>
        </p:spPr>
      </p:sp>
      <p:sp>
        <p:nvSpPr>
          <p:cNvPr id="26" name="Shape 24"/>
          <p:cNvSpPr/>
          <p:nvPr/>
        </p:nvSpPr>
        <p:spPr>
          <a:xfrm>
            <a:off x="6903720" y="1600200"/>
            <a:ext cx="411480" cy="411480"/>
          </a:xfrm>
          <a:prstGeom prst="ellipse">
            <a:avLst/>
          </a:prstGeom>
          <a:solidFill>
            <a:srgbClr val="0E8420"/>
          </a:solidFill>
          <a:ln w="12700">
            <a:solidFill>
              <a:srgbClr val="0E8420"/>
            </a:solidFill>
            <a:prstDash val="solid"/>
          </a:ln>
        </p:spPr>
      </p:sp>
      <p:sp>
        <p:nvSpPr>
          <p:cNvPr id="27" name="Text 25"/>
          <p:cNvSpPr txBox="1"/>
          <p:nvPr/>
        </p:nvSpPr>
        <p:spPr>
          <a:xfrm>
            <a:off x="6903720" y="1600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8" name="Text 26"/>
          <p:cNvSpPr txBox="1"/>
          <p:nvPr/>
        </p:nvSpPr>
        <p:spPr>
          <a:xfrm>
            <a:off x="6903720" y="2103120"/>
            <a:ext cx="1600200" cy="36576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El navegador muestra</a:t>
            </a:r>
            <a:endParaRPr lang="en-US" sz="1200" dirty="0"/>
          </a:p>
        </p:txBody>
      </p:sp>
      <p:sp>
        <p:nvSpPr>
          <p:cNvPr id="29" name="Text 27"/>
          <p:cNvSpPr txBox="1"/>
          <p:nvPr/>
        </p:nvSpPr>
        <p:spPr>
          <a:xfrm>
            <a:off x="6903720" y="2514600"/>
            <a:ext cx="1600200" cy="1005840"/>
          </a:xfrm>
          <a:prstGeom prst="rect">
            <a:avLst/>
          </a:prstGeom>
          <a:noFill/>
          <a:ln/>
        </p:spPr>
        <p:txBody>
          <a:bodyPr wrap="square" lIns="0" tIns="0" rIns="0" bIns="0" rtlCol="0" anchor="t"/>
          <a:lstStyle/>
          <a:p>
            <a:pPr indent="0" marL="0">
              <a:buNone/>
            </a:pPr>
            <a:r>
              <a:rPr lang="en-US" sz="1100" dirty="0">
                <a:solidFill>
                  <a:srgbClr val="111111"/>
                </a:solidFill>
                <a:latin typeface="Arial" pitchFamily="34" charset="0"/>
                <a:ea typeface="Arial" pitchFamily="34" charset="-122"/>
                <a:cs typeface="Arial" pitchFamily="34" charset="-120"/>
              </a:rPr>
              <a:t>Interpreta HTML, CSS y JavaScript y pinta la página.</a:t>
            </a:r>
            <a:endParaRPr lang="en-US" sz="1100" dirty="0"/>
          </a:p>
        </p:txBody>
      </p:sp>
      <p:sp>
        <p:nvSpPr>
          <p:cNvPr id="30" name="Shape 28"/>
          <p:cNvSpPr/>
          <p:nvPr/>
        </p:nvSpPr>
        <p:spPr>
          <a:xfrm>
            <a:off x="457200" y="3886200"/>
            <a:ext cx="8229600" cy="457200"/>
          </a:xfrm>
          <a:prstGeom prst="rect">
            <a:avLst/>
          </a:prstGeom>
          <a:solidFill>
            <a:srgbClr val="EDF8EB"/>
          </a:solidFill>
          <a:ln w="12700">
            <a:solidFill>
              <a:srgbClr val="0E8420"/>
            </a:solidFill>
            <a:prstDash val="solid"/>
          </a:ln>
        </p:spPr>
      </p:sp>
      <p:sp>
        <p:nvSpPr>
          <p:cNvPr id="31" name="Text 29"/>
          <p:cNvSpPr txBox="1"/>
          <p:nvPr/>
        </p:nvSpPr>
        <p:spPr>
          <a:xfrm>
            <a:off x="640080" y="3886200"/>
            <a:ext cx="7863840" cy="457200"/>
          </a:xfrm>
          <a:prstGeom prst="rect">
            <a:avLst/>
          </a:prstGeom>
          <a:noFill/>
          <a:ln/>
        </p:spPr>
        <p:txBody>
          <a:bodyPr wrap="square" lIns="0" tIns="0" rIns="0" bIns="0" rtlCol="0" anchor="ctr"/>
          <a:lstStyle/>
          <a:p>
            <a:pPr indent="0" marL="0">
              <a:buNone/>
            </a:pPr>
            <a:r>
              <a:rPr lang="en-US" sz="1200" dirty="0">
                <a:solidFill>
                  <a:srgbClr val="111111"/>
                </a:solidFill>
                <a:latin typeface="Arial" pitchFamily="34" charset="0"/>
                <a:ea typeface="Arial" pitchFamily="34" charset="-122"/>
                <a:cs typeface="Arial" pitchFamily="34" charset="-120"/>
              </a:rPr>
              <a:t>Los pasos 1 y 4 ocurren en tu ordenador (el cliente). Los pasos 2 y 3, en el servidor.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52060"/>
            <a:ext cx="9144000" cy="91440"/>
          </a:xfrm>
          <a:prstGeom prst="rect">
            <a:avLst/>
          </a:prstGeom>
          <a:solidFill>
            <a:srgbClr val="262626"/>
          </a:solidFill>
          <a:ln w="12700">
            <a:solidFill>
              <a:srgbClr val="262626"/>
            </a:solidFill>
            <a:prstDash val="solid"/>
          </a:ln>
        </p:spPr>
      </p:sp>
      <p:sp>
        <p:nvSpPr>
          <p:cNvPr id="3" name="Text 1"/>
          <p:cNvSpPr txBox="1"/>
          <p:nvPr/>
        </p:nvSpPr>
        <p:spPr>
          <a:xfrm>
            <a:off x="8412480" y="4709160"/>
            <a:ext cx="457200" cy="27432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4</a:t>
            </a:r>
            <a:endParaRPr lang="en-US" sz="900" dirty="0"/>
          </a:p>
        </p:txBody>
      </p:sp>
      <p:sp>
        <p:nvSpPr>
          <p:cNvPr id="4" name="Text 2"/>
          <p:cNvSpPr txBox="1"/>
          <p:nvPr/>
        </p:nvSpPr>
        <p:spPr>
          <a:xfrm>
            <a:off x="457200" y="182880"/>
            <a:ext cx="8229600" cy="228600"/>
          </a:xfrm>
          <a:prstGeom prst="rect">
            <a:avLst/>
          </a:prstGeom>
          <a:noFill/>
          <a:ln/>
        </p:spPr>
        <p:txBody>
          <a:bodyPr wrap="square" lIns="0" tIns="0" rIns="0" bIns="0" rtlCol="0" anchor="ctr"/>
          <a:lstStyle/>
          <a:p>
            <a:pPr indent="0" marL="0">
              <a:buNone/>
            </a:pPr>
            <a:r>
              <a:rPr lang="en-US" sz="1000" b="1" dirty="0">
                <a:solidFill>
                  <a:srgbClr val="0E8420"/>
                </a:solidFill>
                <a:latin typeface="Arial" pitchFamily="34" charset="0"/>
                <a:ea typeface="Arial" pitchFamily="34" charset="-122"/>
                <a:cs typeface="Arial" pitchFamily="34" charset="-120"/>
              </a:rPr>
              <a:t>Bloque 1 · Cliente y servidor</a:t>
            </a:r>
            <a:endParaRPr lang="en-US" sz="1000" dirty="0"/>
          </a:p>
        </p:txBody>
      </p:sp>
      <p:sp>
        <p:nvSpPr>
          <p:cNvPr id="5" name="Text 3"/>
          <p:cNvSpPr txBox="1"/>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Página estática y página dinámica</a:t>
            </a:r>
            <a:endParaRPr lang="en-US" sz="2600" dirty="0"/>
          </a:p>
        </p:txBody>
      </p:sp>
      <p:sp>
        <p:nvSpPr>
          <p:cNvPr id="6" name="Shape 4"/>
          <p:cNvSpPr/>
          <p:nvPr/>
        </p:nvSpPr>
        <p:spPr>
          <a:xfrm>
            <a:off x="457200" y="1188720"/>
            <a:ext cx="3977640" cy="2377440"/>
          </a:xfrm>
          <a:prstGeom prst="rect">
            <a:avLst/>
          </a:prstGeom>
          <a:solidFill>
            <a:srgbClr val="F3F3F3"/>
          </a:solidFill>
          <a:ln w="12700">
            <a:solidFill>
              <a:srgbClr val="D9D9D9"/>
            </a:solidFill>
            <a:prstDash val="solid"/>
          </a:ln>
        </p:spPr>
      </p:sp>
      <p:sp>
        <p:nvSpPr>
          <p:cNvPr id="7" name="Text 5"/>
          <p:cNvSpPr txBox="1"/>
          <p:nvPr/>
        </p:nvSpPr>
        <p:spPr>
          <a:xfrm>
            <a:off x="594360" y="1280160"/>
            <a:ext cx="3703320" cy="320040"/>
          </a:xfrm>
          <a:prstGeom prst="rect">
            <a:avLst/>
          </a:prstGeom>
          <a:noFill/>
          <a:ln/>
        </p:spPr>
        <p:txBody>
          <a:bodyPr wrap="square" lIns="0" tIns="0" rIns="0" bIns="0" rtlCol="0" anchor="t"/>
          <a:lstStyle/>
          <a:p>
            <a:pPr indent="0" marL="0">
              <a:buNone/>
            </a:pPr>
            <a:r>
              <a:rPr lang="en-US" sz="1400" b="1" dirty="0">
                <a:solidFill>
                  <a:srgbClr val="0E8420"/>
                </a:solidFill>
                <a:latin typeface="Arial" pitchFamily="34" charset="0"/>
                <a:ea typeface="Arial" pitchFamily="34" charset="-122"/>
                <a:cs typeface="Arial" pitchFamily="34" charset="-120"/>
              </a:rPr>
              <a:t>Estática</a:t>
            </a:r>
            <a:endParaRPr lang="en-US" sz="1400" dirty="0"/>
          </a:p>
        </p:txBody>
      </p:sp>
      <p:sp>
        <p:nvSpPr>
          <p:cNvPr id="8" name="Text 6"/>
          <p:cNvSpPr txBox="1"/>
          <p:nvPr/>
        </p:nvSpPr>
        <p:spPr>
          <a:xfrm>
            <a:off x="594360" y="1645920"/>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Un fichero HTML que el servidor envía tal cual.</a:t>
            </a:r>
            <a:endParaRPr lang="en-US" sz="1200" dirty="0"/>
          </a:p>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Todo el mundo ve lo mismo.</a:t>
            </a:r>
            <a:endParaRPr lang="en-US" sz="1200" dirty="0"/>
          </a:p>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Ejemplo: la página de presentación de una empresa.</a:t>
            </a:r>
            <a:endParaRPr lang="en-US" sz="1200" dirty="0"/>
          </a:p>
        </p:txBody>
      </p:sp>
      <p:sp>
        <p:nvSpPr>
          <p:cNvPr id="9" name="Shape 7"/>
          <p:cNvSpPr/>
          <p:nvPr/>
        </p:nvSpPr>
        <p:spPr>
          <a:xfrm>
            <a:off x="4709160" y="1188720"/>
            <a:ext cx="3977640" cy="2377440"/>
          </a:xfrm>
          <a:prstGeom prst="rect">
            <a:avLst/>
          </a:prstGeom>
          <a:solidFill>
            <a:srgbClr val="F3F3F3"/>
          </a:solidFill>
          <a:ln w="12700">
            <a:solidFill>
              <a:srgbClr val="D9D9D9"/>
            </a:solidFill>
            <a:prstDash val="solid"/>
          </a:ln>
        </p:spPr>
      </p:sp>
      <p:sp>
        <p:nvSpPr>
          <p:cNvPr id="10" name="Text 8"/>
          <p:cNvSpPr txBox="1"/>
          <p:nvPr/>
        </p:nvSpPr>
        <p:spPr>
          <a:xfrm>
            <a:off x="4846320" y="1280160"/>
            <a:ext cx="3703320" cy="320040"/>
          </a:xfrm>
          <a:prstGeom prst="rect">
            <a:avLst/>
          </a:prstGeom>
          <a:noFill/>
          <a:ln/>
        </p:spPr>
        <p:txBody>
          <a:bodyPr wrap="square" lIns="0" tIns="0" rIns="0" bIns="0" rtlCol="0" anchor="t"/>
          <a:lstStyle/>
          <a:p>
            <a:pPr indent="0" marL="0">
              <a:buNone/>
            </a:pPr>
            <a:r>
              <a:rPr lang="en-US" sz="1400" b="1" dirty="0">
                <a:solidFill>
                  <a:srgbClr val="0E8420"/>
                </a:solidFill>
                <a:latin typeface="Arial" pitchFamily="34" charset="0"/>
                <a:ea typeface="Arial" pitchFamily="34" charset="-122"/>
                <a:cs typeface="Arial" pitchFamily="34" charset="-120"/>
              </a:rPr>
              <a:t>Dinámica</a:t>
            </a:r>
            <a:endParaRPr lang="en-US" sz="1400" dirty="0"/>
          </a:p>
        </p:txBody>
      </p:sp>
      <p:sp>
        <p:nvSpPr>
          <p:cNvPr id="11" name="Text 9"/>
          <p:cNvSpPr txBox="1"/>
          <p:nvPr/>
        </p:nvSpPr>
        <p:spPr>
          <a:xfrm>
            <a:off x="4846320" y="1645920"/>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El servidor genera la página en el momento, con código y datos.</a:t>
            </a:r>
            <a:endParaRPr lang="en-US" sz="1200" dirty="0"/>
          </a:p>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Cada usuario ve lo suyo.</a:t>
            </a:r>
            <a:endParaRPr lang="en-US" sz="1200" dirty="0"/>
          </a:p>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Ejemplo: tu área personal del aula virtual.</a:t>
            </a:r>
            <a:endParaRPr lang="en-US" sz="1200" dirty="0"/>
          </a:p>
        </p:txBody>
      </p:sp>
      <p:sp>
        <p:nvSpPr>
          <p:cNvPr id="12" name="Shape 10"/>
          <p:cNvSpPr/>
          <p:nvPr/>
        </p:nvSpPr>
        <p:spPr>
          <a:xfrm>
            <a:off x="457200" y="3840480"/>
            <a:ext cx="8229600" cy="457200"/>
          </a:xfrm>
          <a:prstGeom prst="rect">
            <a:avLst/>
          </a:prstGeom>
          <a:solidFill>
            <a:srgbClr val="EDF8EB"/>
          </a:solidFill>
          <a:ln w="12700">
            <a:solidFill>
              <a:srgbClr val="0E8420"/>
            </a:solidFill>
            <a:prstDash val="solid"/>
          </a:ln>
        </p:spPr>
      </p:sp>
      <p:sp>
        <p:nvSpPr>
          <p:cNvPr id="13" name="Text 11"/>
          <p:cNvSpPr txBox="1"/>
          <p:nvPr/>
        </p:nvSpPr>
        <p:spPr>
          <a:xfrm>
            <a:off x="640080" y="3840480"/>
            <a:ext cx="7863840" cy="457200"/>
          </a:xfrm>
          <a:prstGeom prst="rect">
            <a:avLst/>
          </a:prstGeom>
          <a:noFill/>
          <a:ln/>
        </p:spPr>
        <p:txBody>
          <a:bodyPr wrap="square" lIns="0" tIns="0" rIns="0" bIns="0" rtlCol="0" anchor="ctr"/>
          <a:lstStyle/>
          <a:p>
            <a:pPr indent="0" marL="0">
              <a:buNone/>
            </a:pPr>
            <a:r>
              <a:rPr lang="en-US" sz="1200" dirty="0">
                <a:solidFill>
                  <a:srgbClr val="111111"/>
                </a:solidFill>
                <a:latin typeface="Arial" pitchFamily="34" charset="0"/>
                <a:ea typeface="Arial" pitchFamily="34" charset="-122"/>
                <a:cs typeface="Arial" pitchFamily="34" charset="-120"/>
              </a:rPr>
              <a:t>Este módulo va de montar servidores capaces de generar páginas dinámicas.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52060"/>
            <a:ext cx="9144000" cy="91440"/>
          </a:xfrm>
          <a:prstGeom prst="rect">
            <a:avLst/>
          </a:prstGeom>
          <a:solidFill>
            <a:srgbClr val="262626"/>
          </a:solidFill>
          <a:ln w="12700">
            <a:solidFill>
              <a:srgbClr val="262626"/>
            </a:solidFill>
            <a:prstDash val="solid"/>
          </a:ln>
        </p:spPr>
      </p:sp>
      <p:sp>
        <p:nvSpPr>
          <p:cNvPr id="3" name="Text 1"/>
          <p:cNvSpPr txBox="1"/>
          <p:nvPr/>
        </p:nvSpPr>
        <p:spPr>
          <a:xfrm>
            <a:off x="8412480" y="4709160"/>
            <a:ext cx="457200" cy="27432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5</a:t>
            </a:r>
            <a:endParaRPr lang="en-US" sz="900" dirty="0"/>
          </a:p>
        </p:txBody>
      </p:sp>
      <p:sp>
        <p:nvSpPr>
          <p:cNvPr id="4" name="Text 2"/>
          <p:cNvSpPr txBox="1"/>
          <p:nvPr/>
        </p:nvSpPr>
        <p:spPr>
          <a:xfrm>
            <a:off x="457200" y="182880"/>
            <a:ext cx="8229600" cy="228600"/>
          </a:xfrm>
          <a:prstGeom prst="rect">
            <a:avLst/>
          </a:prstGeom>
          <a:noFill/>
          <a:ln/>
        </p:spPr>
        <p:txBody>
          <a:bodyPr wrap="square" lIns="0" tIns="0" rIns="0" bIns="0" rtlCol="0" anchor="ctr"/>
          <a:lstStyle/>
          <a:p>
            <a:pPr indent="0" marL="0">
              <a:buNone/>
            </a:pPr>
            <a:r>
              <a:rPr lang="en-US" sz="1000" b="1" dirty="0">
                <a:solidFill>
                  <a:srgbClr val="0E8420"/>
                </a:solidFill>
                <a:latin typeface="Arial" pitchFamily="34" charset="0"/>
                <a:ea typeface="Arial" pitchFamily="34" charset="-122"/>
                <a:cs typeface="Arial" pitchFamily="34" charset="-120"/>
              </a:rPr>
              <a:t>Bloque 1 · Cliente y servidor</a:t>
            </a:r>
            <a:endParaRPr lang="en-US" sz="1000" dirty="0"/>
          </a:p>
        </p:txBody>
      </p:sp>
      <p:sp>
        <p:nvSpPr>
          <p:cNvPr id="5" name="Text 3"/>
          <p:cNvSpPr txBox="1"/>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Qué se ejecuta dónde</a:t>
            </a:r>
            <a:endParaRPr lang="en-US" sz="2600" dirty="0"/>
          </a:p>
        </p:txBody>
      </p:sp>
      <p:sp>
        <p:nvSpPr>
          <p:cNvPr id="6" name="Shape 4"/>
          <p:cNvSpPr/>
          <p:nvPr/>
        </p:nvSpPr>
        <p:spPr>
          <a:xfrm>
            <a:off x="457200" y="1188720"/>
            <a:ext cx="3977640" cy="2514600"/>
          </a:xfrm>
          <a:prstGeom prst="rect">
            <a:avLst/>
          </a:prstGeom>
          <a:solidFill>
            <a:srgbClr val="F3F3F3"/>
          </a:solidFill>
          <a:ln w="12700">
            <a:solidFill>
              <a:srgbClr val="D9D9D9"/>
            </a:solidFill>
            <a:prstDash val="solid"/>
          </a:ln>
        </p:spPr>
      </p:sp>
      <p:sp>
        <p:nvSpPr>
          <p:cNvPr id="7" name="Text 5"/>
          <p:cNvSpPr txBox="1"/>
          <p:nvPr/>
        </p:nvSpPr>
        <p:spPr>
          <a:xfrm>
            <a:off x="594360" y="1280160"/>
            <a:ext cx="3703320" cy="320040"/>
          </a:xfrm>
          <a:prstGeom prst="rect">
            <a:avLst/>
          </a:prstGeom>
          <a:noFill/>
          <a:ln/>
        </p:spPr>
        <p:txBody>
          <a:bodyPr wrap="square" lIns="0" tIns="0" rIns="0" bIns="0" rtlCol="0" anchor="t"/>
          <a:lstStyle/>
          <a:p>
            <a:pPr indent="0" marL="0">
              <a:buNone/>
            </a:pPr>
            <a:r>
              <a:rPr lang="en-US" sz="1400" b="1" dirty="0">
                <a:solidFill>
                  <a:srgbClr val="0E8420"/>
                </a:solidFill>
                <a:latin typeface="Arial" pitchFamily="34" charset="0"/>
                <a:ea typeface="Arial" pitchFamily="34" charset="-122"/>
                <a:cs typeface="Arial" pitchFamily="34" charset="-120"/>
              </a:rPr>
              <a:t>En el cliente (el navegador)</a:t>
            </a:r>
            <a:endParaRPr lang="en-US" sz="1400" dirty="0"/>
          </a:p>
        </p:txBody>
      </p:sp>
      <p:sp>
        <p:nvSpPr>
          <p:cNvPr id="8" name="Text 6"/>
          <p:cNvSpPr txBox="1"/>
          <p:nvPr/>
        </p:nvSpPr>
        <p:spPr>
          <a:xfrm>
            <a:off x="594360" y="1645920"/>
            <a:ext cx="3703320" cy="196596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Lenguajes: HTML, CSS y JavaScript.</a:t>
            </a:r>
            <a:endParaRPr lang="en-US" sz="1200" dirty="0"/>
          </a:p>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Para: presentación, efectos y avisar rápido de errores.</a:t>
            </a:r>
            <a:endParaRPr lang="en-US" sz="1200" dirty="0"/>
          </a:p>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El usuario puede ver el código y cambiarlo.</a:t>
            </a:r>
            <a:endParaRPr lang="en-US" sz="1200" dirty="0"/>
          </a:p>
        </p:txBody>
      </p:sp>
      <p:sp>
        <p:nvSpPr>
          <p:cNvPr id="9" name="Shape 7"/>
          <p:cNvSpPr/>
          <p:nvPr/>
        </p:nvSpPr>
        <p:spPr>
          <a:xfrm>
            <a:off x="4709160" y="1188720"/>
            <a:ext cx="3977640" cy="2514600"/>
          </a:xfrm>
          <a:prstGeom prst="rect">
            <a:avLst/>
          </a:prstGeom>
          <a:solidFill>
            <a:srgbClr val="F3F3F3"/>
          </a:solidFill>
          <a:ln w="12700">
            <a:solidFill>
              <a:srgbClr val="D9D9D9"/>
            </a:solidFill>
            <a:prstDash val="solid"/>
          </a:ln>
        </p:spPr>
      </p:sp>
      <p:sp>
        <p:nvSpPr>
          <p:cNvPr id="10" name="Text 8"/>
          <p:cNvSpPr txBox="1"/>
          <p:nvPr/>
        </p:nvSpPr>
        <p:spPr>
          <a:xfrm>
            <a:off x="4846320" y="1280160"/>
            <a:ext cx="3703320" cy="320040"/>
          </a:xfrm>
          <a:prstGeom prst="rect">
            <a:avLst/>
          </a:prstGeom>
          <a:noFill/>
          <a:ln/>
        </p:spPr>
        <p:txBody>
          <a:bodyPr wrap="square" lIns="0" tIns="0" rIns="0" bIns="0" rtlCol="0" anchor="t"/>
          <a:lstStyle/>
          <a:p>
            <a:pPr indent="0" marL="0">
              <a:buNone/>
            </a:pPr>
            <a:r>
              <a:rPr lang="en-US" sz="1400" b="1" dirty="0">
                <a:solidFill>
                  <a:srgbClr val="0E8420"/>
                </a:solidFill>
                <a:latin typeface="Arial" pitchFamily="34" charset="0"/>
                <a:ea typeface="Arial" pitchFamily="34" charset="-122"/>
                <a:cs typeface="Arial" pitchFamily="34" charset="-120"/>
              </a:rPr>
              <a:t>En el servidor</a:t>
            </a:r>
            <a:endParaRPr lang="en-US" sz="1400" dirty="0"/>
          </a:p>
        </p:txBody>
      </p:sp>
      <p:sp>
        <p:nvSpPr>
          <p:cNvPr id="11" name="Text 9"/>
          <p:cNvSpPr txBox="1"/>
          <p:nvPr/>
        </p:nvSpPr>
        <p:spPr>
          <a:xfrm>
            <a:off x="4846320" y="1645920"/>
            <a:ext cx="3703320" cy="196596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Lenguajes: PHP, Python, Java...</a:t>
            </a:r>
            <a:endParaRPr lang="en-US" sz="1200" dirty="0"/>
          </a:p>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Para: bases de datos, usuarios y contraseñas, cálculos que importan.</a:t>
            </a:r>
            <a:endParaRPr lang="en-US" sz="1200" dirty="0"/>
          </a:p>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El usuario solo recibe el resultado, nunca el código.</a:t>
            </a:r>
            <a:endParaRPr lang="en-US" sz="1200" dirty="0"/>
          </a:p>
        </p:txBody>
      </p:sp>
      <p:sp>
        <p:nvSpPr>
          <p:cNvPr id="12" name="Shape 10"/>
          <p:cNvSpPr/>
          <p:nvPr/>
        </p:nvSpPr>
        <p:spPr>
          <a:xfrm>
            <a:off x="457200" y="3931920"/>
            <a:ext cx="8229600" cy="457200"/>
          </a:xfrm>
          <a:prstGeom prst="rect">
            <a:avLst/>
          </a:prstGeom>
          <a:solidFill>
            <a:srgbClr val="EDF8EB"/>
          </a:solidFill>
          <a:ln w="12700">
            <a:solidFill>
              <a:srgbClr val="0E8420"/>
            </a:solidFill>
            <a:prstDash val="solid"/>
          </a:ln>
        </p:spPr>
      </p:sp>
      <p:sp>
        <p:nvSpPr>
          <p:cNvPr id="13" name="Text 11"/>
          <p:cNvSpPr txBox="1"/>
          <p:nvPr/>
        </p:nvSpPr>
        <p:spPr>
          <a:xfrm>
            <a:off x="640080" y="3931920"/>
            <a:ext cx="7863840" cy="457200"/>
          </a:xfrm>
          <a:prstGeom prst="rect">
            <a:avLst/>
          </a:prstGeom>
          <a:noFill/>
          <a:ln/>
        </p:spPr>
        <p:txBody>
          <a:bodyPr wrap="square" lIns="0" tIns="0" rIns="0" bIns="0" rtlCol="0" anchor="ctr"/>
          <a:lstStyle/>
          <a:p>
            <a:pPr indent="0" marL="0">
              <a:buNone/>
            </a:pPr>
            <a:r>
              <a:rPr lang="en-US" sz="1200" dirty="0">
                <a:solidFill>
                  <a:srgbClr val="111111"/>
                </a:solidFill>
                <a:latin typeface="Arial" pitchFamily="34" charset="0"/>
                <a:ea typeface="Arial" pitchFamily="34" charset="-122"/>
                <a:cs typeface="Arial" pitchFamily="34" charset="-120"/>
              </a:rPr>
              <a:t>Pruébalo: en cualquier web, clic derecho y «Ver código fuente». Ves HTML, nunca PHP.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52060"/>
            <a:ext cx="9144000" cy="91440"/>
          </a:xfrm>
          <a:prstGeom prst="rect">
            <a:avLst/>
          </a:prstGeom>
          <a:solidFill>
            <a:srgbClr val="262626"/>
          </a:solidFill>
          <a:ln w="12700">
            <a:solidFill>
              <a:srgbClr val="262626"/>
            </a:solidFill>
            <a:prstDash val="solid"/>
          </a:ln>
        </p:spPr>
      </p:sp>
      <p:sp>
        <p:nvSpPr>
          <p:cNvPr id="3" name="Text 1"/>
          <p:cNvSpPr txBox="1"/>
          <p:nvPr/>
        </p:nvSpPr>
        <p:spPr>
          <a:xfrm>
            <a:off x="8412480" y="4709160"/>
            <a:ext cx="457200" cy="27432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6</a:t>
            </a:r>
            <a:endParaRPr lang="en-US" sz="900" dirty="0"/>
          </a:p>
        </p:txBody>
      </p:sp>
      <p:sp>
        <p:nvSpPr>
          <p:cNvPr id="4" name="Text 2"/>
          <p:cNvSpPr txBox="1"/>
          <p:nvPr/>
        </p:nvSpPr>
        <p:spPr>
          <a:xfrm>
            <a:off x="457200" y="182880"/>
            <a:ext cx="8229600" cy="228600"/>
          </a:xfrm>
          <a:prstGeom prst="rect">
            <a:avLst/>
          </a:prstGeom>
          <a:noFill/>
          <a:ln/>
        </p:spPr>
        <p:txBody>
          <a:bodyPr wrap="square" lIns="0" tIns="0" rIns="0" bIns="0" rtlCol="0" anchor="ctr"/>
          <a:lstStyle/>
          <a:p>
            <a:pPr indent="0" marL="0">
              <a:buNone/>
            </a:pPr>
            <a:r>
              <a:rPr lang="en-US" sz="1000" b="1" dirty="0">
                <a:solidFill>
                  <a:srgbClr val="0E8420"/>
                </a:solidFill>
                <a:latin typeface="Arial" pitchFamily="34" charset="0"/>
                <a:ea typeface="Arial" pitchFamily="34" charset="-122"/>
                <a:cs typeface="Arial" pitchFamily="34" charset="-120"/>
              </a:rPr>
              <a:t>Bloque 1 · Cliente y servidor</a:t>
            </a:r>
            <a:endParaRPr lang="en-US" sz="1000" dirty="0"/>
          </a:p>
        </p:txBody>
      </p:sp>
      <p:sp>
        <p:nvSpPr>
          <p:cNvPr id="5" name="Text 3"/>
          <p:cNvSpPr txBox="1"/>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La regla de oro</a:t>
            </a:r>
            <a:endParaRPr lang="en-US" sz="2600" dirty="0"/>
          </a:p>
        </p:txBody>
      </p:sp>
      <p:sp>
        <p:nvSpPr>
          <p:cNvPr id="6" name="Shape 4"/>
          <p:cNvSpPr/>
          <p:nvPr/>
        </p:nvSpPr>
        <p:spPr>
          <a:xfrm>
            <a:off x="457200" y="1143000"/>
            <a:ext cx="8229600" cy="731520"/>
          </a:xfrm>
          <a:prstGeom prst="rect">
            <a:avLst/>
          </a:prstGeom>
          <a:solidFill>
            <a:srgbClr val="262626"/>
          </a:solidFill>
          <a:ln w="12700">
            <a:solidFill>
              <a:srgbClr val="262626"/>
            </a:solidFill>
            <a:prstDash val="solid"/>
          </a:ln>
        </p:spPr>
      </p:sp>
      <p:sp>
        <p:nvSpPr>
          <p:cNvPr id="7" name="Text 5"/>
          <p:cNvSpPr txBox="1"/>
          <p:nvPr/>
        </p:nvSpPr>
        <p:spPr>
          <a:xfrm>
            <a:off x="640080" y="1143000"/>
            <a:ext cx="7863840" cy="7315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Todo lo que se comprueba en el navegador se puede saltar.</a:t>
            </a:r>
            <a:endParaRPr lang="en-US" sz="2000" dirty="0"/>
          </a:p>
        </p:txBody>
      </p:sp>
      <p:sp>
        <p:nvSpPr>
          <p:cNvPr id="8" name="Text 6"/>
          <p:cNvSpPr txBox="1"/>
          <p:nvPr/>
        </p:nvSpPr>
        <p:spPr>
          <a:xfrm>
            <a:off x="457200" y="2103120"/>
            <a:ext cx="8229600" cy="173736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11111"/>
                </a:solidFill>
                <a:latin typeface="Arial" pitchFamily="34" charset="0"/>
                <a:ea typeface="Arial" pitchFamily="34" charset="-122"/>
                <a:cs typeface="Arial" pitchFamily="34" charset="-120"/>
              </a:rPr>
              <a:t>Validar en el cliente es por comodidad: avisa al usuario sin esperar al servidor.</a:t>
            </a:r>
            <a:endParaRPr lang="en-US" sz="1500" dirty="0"/>
          </a:p>
          <a:p>
            <a:pPr marL="152400" indent="-152400">
              <a:spcAft>
                <a:spcPts val="600"/>
              </a:spcAft>
              <a:buSzPct val="100000"/>
              <a:buChar char="•"/>
            </a:pPr>
            <a:r>
              <a:rPr lang="en-US" sz="1500" dirty="0">
                <a:solidFill>
                  <a:srgbClr val="111111"/>
                </a:solidFill>
                <a:latin typeface="Arial" pitchFamily="34" charset="0"/>
                <a:ea typeface="Arial" pitchFamily="34" charset="-122"/>
                <a:cs typeface="Arial" pitchFamily="34" charset="-120"/>
              </a:rPr>
              <a:t>Validar en el servidor es por seguridad: es la comprobación que cuenta.</a:t>
            </a:r>
            <a:endParaRPr lang="en-US" sz="1500" dirty="0"/>
          </a:p>
          <a:p>
            <a:pPr marL="152400" indent="-152400">
              <a:buSzPct val="100000"/>
              <a:buChar char="•"/>
            </a:pPr>
            <a:r>
              <a:rPr lang="en-US" sz="1500" dirty="0">
                <a:solidFill>
                  <a:srgbClr val="111111"/>
                </a:solidFill>
                <a:latin typeface="Arial" pitchFamily="34" charset="0"/>
                <a:ea typeface="Arial" pitchFamily="34" charset="-122"/>
                <a:cs typeface="Arial" pitchFamily="34" charset="-120"/>
              </a:rPr>
              <a:t>Precios, permisos y contraseñas se comprueban siempre en el servidor.</a:t>
            </a:r>
            <a:endParaRPr lang="en-US" sz="1500" dirty="0"/>
          </a:p>
        </p:txBody>
      </p:sp>
      <p:sp>
        <p:nvSpPr>
          <p:cNvPr id="9" name="Shape 7"/>
          <p:cNvSpPr/>
          <p:nvPr/>
        </p:nvSpPr>
        <p:spPr>
          <a:xfrm>
            <a:off x="457200" y="4343400"/>
            <a:ext cx="8229600" cy="411480"/>
          </a:xfrm>
          <a:prstGeom prst="rect">
            <a:avLst/>
          </a:prstGeom>
          <a:solidFill>
            <a:srgbClr val="0E8420"/>
          </a:solidFill>
          <a:ln w="12700">
            <a:solidFill>
              <a:srgbClr val="0E8420"/>
            </a:solidFill>
            <a:prstDash val="solid"/>
          </a:ln>
        </p:spPr>
      </p:sp>
      <p:sp>
        <p:nvSpPr>
          <p:cNvPr id="10" name="Text 8"/>
          <p:cNvSpPr txBox="1"/>
          <p:nvPr/>
        </p:nvSpPr>
        <p:spPr>
          <a:xfrm>
            <a:off x="640080" y="4343400"/>
            <a:ext cx="786384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Ejercicio 1 · ¿Cliente o servidor? · 8 minutos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52060"/>
            <a:ext cx="9144000" cy="91440"/>
          </a:xfrm>
          <a:prstGeom prst="rect">
            <a:avLst/>
          </a:prstGeom>
          <a:solidFill>
            <a:srgbClr val="262626"/>
          </a:solidFill>
          <a:ln w="12700">
            <a:solidFill>
              <a:srgbClr val="262626"/>
            </a:solidFill>
            <a:prstDash val="solid"/>
          </a:ln>
        </p:spPr>
      </p:sp>
      <p:sp>
        <p:nvSpPr>
          <p:cNvPr id="3" name="Text 1"/>
          <p:cNvSpPr txBox="1"/>
          <p:nvPr/>
        </p:nvSpPr>
        <p:spPr>
          <a:xfrm>
            <a:off x="8412480" y="4709160"/>
            <a:ext cx="457200" cy="27432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7</a:t>
            </a:r>
            <a:endParaRPr lang="en-US" sz="900" dirty="0"/>
          </a:p>
        </p:txBody>
      </p:sp>
      <p:sp>
        <p:nvSpPr>
          <p:cNvPr id="4" name="Text 2"/>
          <p:cNvSpPr txBox="1"/>
          <p:nvPr/>
        </p:nvSpPr>
        <p:spPr>
          <a:xfrm>
            <a:off x="457200" y="182880"/>
            <a:ext cx="8229600" cy="228600"/>
          </a:xfrm>
          <a:prstGeom prst="rect">
            <a:avLst/>
          </a:prstGeom>
          <a:noFill/>
          <a:ln/>
        </p:spPr>
        <p:txBody>
          <a:bodyPr wrap="square" lIns="0" tIns="0" rIns="0" bIns="0" rtlCol="0" anchor="ctr"/>
          <a:lstStyle/>
          <a:p>
            <a:pPr indent="0" marL="0">
              <a:buNone/>
            </a:pPr>
            <a:r>
              <a:rPr lang="en-US" sz="1000" b="1" dirty="0">
                <a:solidFill>
                  <a:srgbClr val="0E8420"/>
                </a:solidFill>
                <a:latin typeface="Arial" pitchFamily="34" charset="0"/>
                <a:ea typeface="Arial" pitchFamily="34" charset="-122"/>
                <a:cs typeface="Arial" pitchFamily="34" charset="-120"/>
              </a:rPr>
              <a:t>Bloque 2 · HTTP por dentro</a:t>
            </a:r>
            <a:endParaRPr lang="en-US" sz="1000" dirty="0"/>
          </a:p>
        </p:txBody>
      </p:sp>
      <p:sp>
        <p:nvSpPr>
          <p:cNvPr id="5" name="Text 3"/>
          <p:cNvSpPr txBox="1"/>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Una petición y su respuesta</a:t>
            </a:r>
            <a:endParaRPr lang="en-US" sz="2600" dirty="0"/>
          </a:p>
        </p:txBody>
      </p:sp>
      <p:sp>
        <p:nvSpPr>
          <p:cNvPr id="6" name="Text 4"/>
          <p:cNvSpPr txBox="1"/>
          <p:nvPr/>
        </p:nvSpPr>
        <p:spPr>
          <a:xfrm>
            <a:off x="457200" y="9144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HTTP es el idioma en el que hablan el navegador y el servidor</a:t>
            </a:r>
            <a:endParaRPr lang="en-US" sz="1200" dirty="0"/>
          </a:p>
        </p:txBody>
      </p:sp>
      <p:sp>
        <p:nvSpPr>
          <p:cNvPr id="7" name="Text 5"/>
          <p:cNvSpPr txBox="1"/>
          <p:nvPr/>
        </p:nvSpPr>
        <p:spPr>
          <a:xfrm>
            <a:off x="457200" y="1280160"/>
            <a:ext cx="3977640" cy="274320"/>
          </a:xfrm>
          <a:prstGeom prst="rect">
            <a:avLst/>
          </a:prstGeom>
          <a:noFill/>
          <a:ln/>
        </p:spPr>
        <p:txBody>
          <a:bodyPr wrap="square" lIns="0" tIns="0" rIns="0" bIns="0" rtlCol="0" anchor="ctr"/>
          <a:lstStyle/>
          <a:p>
            <a:pPr indent="0" marL="0">
              <a:buNone/>
            </a:pPr>
            <a:r>
              <a:rPr lang="en-US" sz="1200" b="1" dirty="0">
                <a:solidFill>
                  <a:srgbClr val="0E8420"/>
                </a:solidFill>
                <a:latin typeface="Arial" pitchFamily="34" charset="0"/>
                <a:ea typeface="Arial" pitchFamily="34" charset="-122"/>
                <a:cs typeface="Arial" pitchFamily="34" charset="-120"/>
              </a:rPr>
              <a:t>Petición (la envía el navegador)</a:t>
            </a:r>
            <a:endParaRPr lang="en-US" sz="1200" dirty="0"/>
          </a:p>
        </p:txBody>
      </p:sp>
      <p:sp>
        <p:nvSpPr>
          <p:cNvPr id="8" name="Shape 6"/>
          <p:cNvSpPr/>
          <p:nvPr/>
        </p:nvSpPr>
        <p:spPr>
          <a:xfrm>
            <a:off x="457200" y="1600200"/>
            <a:ext cx="3977640" cy="1463040"/>
          </a:xfrm>
          <a:prstGeom prst="rect">
            <a:avLst/>
          </a:prstGeom>
          <a:solidFill>
            <a:srgbClr val="262626"/>
          </a:solidFill>
          <a:ln w="12700">
            <a:solidFill>
              <a:srgbClr val="262626"/>
            </a:solidFill>
            <a:prstDash val="solid"/>
          </a:ln>
        </p:spPr>
      </p:sp>
      <p:sp>
        <p:nvSpPr>
          <p:cNvPr id="9" name="Text 7"/>
          <p:cNvSpPr txBox="1"/>
          <p:nvPr/>
        </p:nvSpPr>
        <p:spPr>
          <a:xfrm>
            <a:off x="594360" y="1691640"/>
            <a:ext cx="3703320" cy="128016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GET /index.html HTTP/1.1</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Host: www.ejemplo.es</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User-Agent: Firefox</a:t>
            </a:r>
            <a:endParaRPr lang="en-US" sz="1200" dirty="0"/>
          </a:p>
        </p:txBody>
      </p:sp>
      <p:sp>
        <p:nvSpPr>
          <p:cNvPr id="10" name="Text 8"/>
          <p:cNvSpPr txBox="1"/>
          <p:nvPr/>
        </p:nvSpPr>
        <p:spPr>
          <a:xfrm>
            <a:off x="4709160" y="1280160"/>
            <a:ext cx="3977640" cy="274320"/>
          </a:xfrm>
          <a:prstGeom prst="rect">
            <a:avLst/>
          </a:prstGeom>
          <a:noFill/>
          <a:ln/>
        </p:spPr>
        <p:txBody>
          <a:bodyPr wrap="square" lIns="0" tIns="0" rIns="0" bIns="0" rtlCol="0" anchor="ctr"/>
          <a:lstStyle/>
          <a:p>
            <a:pPr indent="0" marL="0">
              <a:buNone/>
            </a:pPr>
            <a:r>
              <a:rPr lang="en-US" sz="1200" b="1" dirty="0">
                <a:solidFill>
                  <a:srgbClr val="0E8420"/>
                </a:solidFill>
                <a:latin typeface="Arial" pitchFamily="34" charset="0"/>
                <a:ea typeface="Arial" pitchFamily="34" charset="-122"/>
                <a:cs typeface="Arial" pitchFamily="34" charset="-120"/>
              </a:rPr>
              <a:t>Respuesta (la devuelve el servidor)</a:t>
            </a:r>
            <a:endParaRPr lang="en-US" sz="1200" dirty="0"/>
          </a:p>
        </p:txBody>
      </p:sp>
      <p:sp>
        <p:nvSpPr>
          <p:cNvPr id="11" name="Shape 9"/>
          <p:cNvSpPr/>
          <p:nvPr/>
        </p:nvSpPr>
        <p:spPr>
          <a:xfrm>
            <a:off x="4709160" y="1600200"/>
            <a:ext cx="3977640" cy="1463040"/>
          </a:xfrm>
          <a:prstGeom prst="rect">
            <a:avLst/>
          </a:prstGeom>
          <a:solidFill>
            <a:srgbClr val="262626"/>
          </a:solidFill>
          <a:ln w="12700">
            <a:solidFill>
              <a:srgbClr val="262626"/>
            </a:solidFill>
            <a:prstDash val="solid"/>
          </a:ln>
        </p:spPr>
      </p:sp>
      <p:sp>
        <p:nvSpPr>
          <p:cNvPr id="12" name="Text 10"/>
          <p:cNvSpPr txBox="1"/>
          <p:nvPr/>
        </p:nvSpPr>
        <p:spPr>
          <a:xfrm>
            <a:off x="4846320" y="1691640"/>
            <a:ext cx="3703320" cy="128016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HTTP/1.1 200 OK</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Server: Apache</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Content-Type: text/html</a:t>
            </a:r>
            <a:endParaRPr lang="en-US" sz="1200" dirty="0"/>
          </a:p>
          <a:p>
            <a:pPr indent="0" marL="0">
              <a:buNone/>
            </a:pP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&lt;html&gt; ... &lt;/html&gt;</a:t>
            </a:r>
            <a:endParaRPr lang="en-US" sz="1200" dirty="0"/>
          </a:p>
        </p:txBody>
      </p:sp>
      <p:sp>
        <p:nvSpPr>
          <p:cNvPr id="13" name="Shape 11"/>
          <p:cNvSpPr/>
          <p:nvPr/>
        </p:nvSpPr>
        <p:spPr>
          <a:xfrm>
            <a:off x="457200" y="3383280"/>
            <a:ext cx="8229600" cy="594360"/>
          </a:xfrm>
          <a:prstGeom prst="rect">
            <a:avLst/>
          </a:prstGeom>
          <a:solidFill>
            <a:srgbClr val="EDF8EB"/>
          </a:solidFill>
          <a:ln w="12700">
            <a:solidFill>
              <a:srgbClr val="0E8420"/>
            </a:solidFill>
            <a:prstDash val="solid"/>
          </a:ln>
        </p:spPr>
      </p:sp>
      <p:sp>
        <p:nvSpPr>
          <p:cNvPr id="14" name="Text 12"/>
          <p:cNvSpPr txBox="1"/>
          <p:nvPr/>
        </p:nvSpPr>
        <p:spPr>
          <a:xfrm>
            <a:off x="640080" y="3383280"/>
            <a:ext cx="7863840" cy="594360"/>
          </a:xfrm>
          <a:prstGeom prst="rect">
            <a:avLst/>
          </a:prstGeom>
          <a:noFill/>
          <a:ln/>
        </p:spPr>
        <p:txBody>
          <a:bodyPr wrap="square" lIns="0" tIns="0" rIns="0" bIns="0" rtlCol="0" anchor="ctr"/>
          <a:lstStyle/>
          <a:p>
            <a:pPr indent="0" marL="0">
              <a:buNone/>
            </a:pPr>
            <a:r>
              <a:rPr lang="en-US" sz="1200" dirty="0">
                <a:solidFill>
                  <a:srgbClr val="111111"/>
                </a:solidFill>
                <a:latin typeface="Arial" pitchFamily="34" charset="0"/>
                <a:ea typeface="Arial" pitchFamily="34" charset="-122"/>
                <a:cs typeface="Arial" pitchFamily="34" charset="-120"/>
              </a:rPr>
              <a:t>La petición lleva un método (GET), un recurso y cabeceras. La respuesta lleva un código de estado, cabeceras y el contenido.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52060"/>
            <a:ext cx="9144000" cy="91440"/>
          </a:xfrm>
          <a:prstGeom prst="rect">
            <a:avLst/>
          </a:prstGeom>
          <a:solidFill>
            <a:srgbClr val="262626"/>
          </a:solidFill>
          <a:ln w="12700">
            <a:solidFill>
              <a:srgbClr val="262626"/>
            </a:solidFill>
            <a:prstDash val="solid"/>
          </a:ln>
        </p:spPr>
      </p:sp>
      <p:sp>
        <p:nvSpPr>
          <p:cNvPr id="3" name="Text 1"/>
          <p:cNvSpPr txBox="1"/>
          <p:nvPr/>
        </p:nvSpPr>
        <p:spPr>
          <a:xfrm>
            <a:off x="8412480" y="4709160"/>
            <a:ext cx="457200" cy="27432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8</a:t>
            </a:r>
            <a:endParaRPr lang="en-US" sz="900" dirty="0"/>
          </a:p>
        </p:txBody>
      </p:sp>
      <p:sp>
        <p:nvSpPr>
          <p:cNvPr id="4" name="Text 2"/>
          <p:cNvSpPr txBox="1"/>
          <p:nvPr/>
        </p:nvSpPr>
        <p:spPr>
          <a:xfrm>
            <a:off x="457200" y="182880"/>
            <a:ext cx="8229600" cy="228600"/>
          </a:xfrm>
          <a:prstGeom prst="rect">
            <a:avLst/>
          </a:prstGeom>
          <a:noFill/>
          <a:ln/>
        </p:spPr>
        <p:txBody>
          <a:bodyPr wrap="square" lIns="0" tIns="0" rIns="0" bIns="0" rtlCol="0" anchor="ctr"/>
          <a:lstStyle/>
          <a:p>
            <a:pPr indent="0" marL="0">
              <a:buNone/>
            </a:pPr>
            <a:r>
              <a:rPr lang="en-US" sz="1000" b="1" dirty="0">
                <a:solidFill>
                  <a:srgbClr val="0E8420"/>
                </a:solidFill>
                <a:latin typeface="Arial" pitchFamily="34" charset="0"/>
                <a:ea typeface="Arial" pitchFamily="34" charset="-122"/>
                <a:cs typeface="Arial" pitchFamily="34" charset="-120"/>
              </a:rPr>
              <a:t>Bloque 2 · HTTP por dentro</a:t>
            </a:r>
            <a:endParaRPr lang="en-US" sz="1000" dirty="0"/>
          </a:p>
        </p:txBody>
      </p:sp>
      <p:sp>
        <p:nvSpPr>
          <p:cNvPr id="5" name="Text 3"/>
          <p:cNvSpPr txBox="1"/>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Códigos de estado</a:t>
            </a:r>
            <a:endParaRPr lang="en-US" sz="2600" dirty="0"/>
          </a:p>
        </p:txBody>
      </p:sp>
      <p:sp>
        <p:nvSpPr>
          <p:cNvPr id="6" name="Text 4"/>
          <p:cNvSpPr txBox="1"/>
          <p:nvPr/>
        </p:nvSpPr>
        <p:spPr>
          <a:xfrm>
            <a:off x="457200" y="9144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El primer número dice de quién es el problema</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097280"/>
                <a:gridCol w="2743200"/>
                <a:gridCol w="4389120"/>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Familia</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0E842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Qué significa</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0E842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Los que vas a ver</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0E8420"/>
                    </a:solidFill>
                  </a:tcPr>
                </a:tc>
              </a:tr>
              <a:tr h="384048">
                <a:tc>
                  <a:txBody>
                    <a:bodyPr/>
                    <a:lstStyle/>
                    <a:p>
                      <a:pPr indent="0" marL="0">
                        <a:buNone/>
                      </a:pPr>
                      <a:r>
                        <a:rPr lang="en-US" sz="1300" dirty="0">
                          <a:solidFill>
                            <a:srgbClr val="111111"/>
                          </a:solidFill>
                          <a:latin typeface="Arial" pitchFamily="34" charset="0"/>
                          <a:ea typeface="Arial" pitchFamily="34" charset="-122"/>
                          <a:cs typeface="Arial" pitchFamily="34" charset="-120"/>
                        </a:rPr>
                        <a:t>2xx</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11111"/>
                          </a:solidFill>
                          <a:latin typeface="Arial" pitchFamily="34" charset="0"/>
                          <a:ea typeface="Arial" pitchFamily="34" charset="-122"/>
                          <a:cs typeface="Arial" pitchFamily="34" charset="-120"/>
                        </a:rPr>
                        <a:t>Todo ha ido bien</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11111"/>
                          </a:solidFill>
                          <a:latin typeface="Arial" pitchFamily="34" charset="0"/>
                          <a:ea typeface="Arial" pitchFamily="34" charset="-122"/>
                          <a:cs typeface="Arial" pitchFamily="34" charset="-120"/>
                        </a:rPr>
                        <a:t>200 OK</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384048">
                <a:tc>
                  <a:txBody>
                    <a:bodyPr/>
                    <a:lstStyle/>
                    <a:p>
                      <a:pPr indent="0" marL="0">
                        <a:buNone/>
                      </a:pPr>
                      <a:r>
                        <a:rPr lang="en-US" sz="1300" dirty="0">
                          <a:solidFill>
                            <a:srgbClr val="111111"/>
                          </a:solidFill>
                          <a:latin typeface="Arial" pitchFamily="34" charset="0"/>
                          <a:ea typeface="Arial" pitchFamily="34" charset="-122"/>
                          <a:cs typeface="Arial" pitchFamily="34" charset="-120"/>
                        </a:rPr>
                        <a:t>3xx</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11111"/>
                          </a:solidFill>
                          <a:latin typeface="Arial" pitchFamily="34" charset="0"/>
                          <a:ea typeface="Arial" pitchFamily="34" charset="-122"/>
                          <a:cs typeface="Arial" pitchFamily="34" charset="-120"/>
                        </a:rPr>
                        <a:t>Vete a otra dirección</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11111"/>
                          </a:solidFill>
                          <a:latin typeface="Arial" pitchFamily="34" charset="0"/>
                          <a:ea typeface="Arial" pitchFamily="34" charset="-122"/>
                          <a:cs typeface="Arial" pitchFamily="34" charset="-120"/>
                        </a:rPr>
                        <a:t>301 Moved Permanently · 302 Found</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384048">
                <a:tc>
                  <a:txBody>
                    <a:bodyPr/>
                    <a:lstStyle/>
                    <a:p>
                      <a:pPr indent="0" marL="0">
                        <a:buNone/>
                      </a:pPr>
                      <a:r>
                        <a:rPr lang="en-US" sz="1300" dirty="0">
                          <a:solidFill>
                            <a:srgbClr val="111111"/>
                          </a:solidFill>
                          <a:latin typeface="Arial" pitchFamily="34" charset="0"/>
                          <a:ea typeface="Arial" pitchFamily="34" charset="-122"/>
                          <a:cs typeface="Arial" pitchFamily="34" charset="-120"/>
                        </a:rPr>
                        <a:t>4xx</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11111"/>
                          </a:solidFill>
                          <a:latin typeface="Arial" pitchFamily="34" charset="0"/>
                          <a:ea typeface="Arial" pitchFamily="34" charset="-122"/>
                          <a:cs typeface="Arial" pitchFamily="34" charset="-120"/>
                        </a:rPr>
                        <a:t>El error es del cliente</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11111"/>
                          </a:solidFill>
                          <a:latin typeface="Arial" pitchFamily="34" charset="0"/>
                          <a:ea typeface="Arial" pitchFamily="34" charset="-122"/>
                          <a:cs typeface="Arial" pitchFamily="34" charset="-120"/>
                        </a:rPr>
                        <a:t>403 Forbidden · 404 Not Found</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384048">
                <a:tc>
                  <a:txBody>
                    <a:bodyPr/>
                    <a:lstStyle/>
                    <a:p>
                      <a:pPr indent="0" marL="0">
                        <a:buNone/>
                      </a:pPr>
                      <a:r>
                        <a:rPr lang="en-US" sz="1300" dirty="0">
                          <a:solidFill>
                            <a:srgbClr val="111111"/>
                          </a:solidFill>
                          <a:latin typeface="Arial" pitchFamily="34" charset="0"/>
                          <a:ea typeface="Arial" pitchFamily="34" charset="-122"/>
                          <a:cs typeface="Arial" pitchFamily="34" charset="-120"/>
                        </a:rPr>
                        <a:t>5xx</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11111"/>
                          </a:solidFill>
                          <a:latin typeface="Arial" pitchFamily="34" charset="0"/>
                          <a:ea typeface="Arial" pitchFamily="34" charset="-122"/>
                          <a:cs typeface="Arial" pitchFamily="34" charset="-120"/>
                        </a:rPr>
                        <a:t>El error es del servidor</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11111"/>
                          </a:solidFill>
                          <a:latin typeface="Arial" pitchFamily="34" charset="0"/>
                          <a:ea typeface="Arial" pitchFamily="34" charset="-122"/>
                          <a:cs typeface="Arial" pitchFamily="34" charset="-120"/>
                        </a:rPr>
                        <a:t>500 Internal Server Error · 503 Service Unavailable</a:t>
                      </a:r>
                      <a:endParaRPr lang="en-US" sz="13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sp>
        <p:nvSpPr>
          <p:cNvPr id="8" name="Shape 5"/>
          <p:cNvSpPr/>
          <p:nvPr/>
        </p:nvSpPr>
        <p:spPr>
          <a:xfrm>
            <a:off x="457200" y="3611880"/>
            <a:ext cx="8229600" cy="457200"/>
          </a:xfrm>
          <a:prstGeom prst="rect">
            <a:avLst/>
          </a:prstGeom>
          <a:solidFill>
            <a:srgbClr val="EDF8EB"/>
          </a:solidFill>
          <a:ln w="12700">
            <a:solidFill>
              <a:srgbClr val="0E8420"/>
            </a:solidFill>
            <a:prstDash val="solid"/>
          </a:ln>
        </p:spPr>
      </p:sp>
      <p:sp>
        <p:nvSpPr>
          <p:cNvPr id="9" name="Text 6"/>
          <p:cNvSpPr txBox="1"/>
          <p:nvPr/>
        </p:nvSpPr>
        <p:spPr>
          <a:xfrm>
            <a:off x="640080" y="3611880"/>
            <a:ext cx="7863840" cy="457200"/>
          </a:xfrm>
          <a:prstGeom prst="rect">
            <a:avLst/>
          </a:prstGeom>
          <a:noFill/>
          <a:ln/>
        </p:spPr>
        <p:txBody>
          <a:bodyPr wrap="square" lIns="0" tIns="0" rIns="0" bIns="0" rtlCol="0" anchor="ctr"/>
          <a:lstStyle/>
          <a:p>
            <a:pPr indent="0" marL="0">
              <a:buNone/>
            </a:pPr>
            <a:r>
              <a:rPr lang="en-US" sz="1200" dirty="0">
                <a:solidFill>
                  <a:srgbClr val="111111"/>
                </a:solidFill>
                <a:latin typeface="Arial" pitchFamily="34" charset="0"/>
                <a:ea typeface="Arial" pitchFamily="34" charset="-122"/>
                <a:cs typeface="Arial" pitchFamily="34" charset="-120"/>
              </a:rPr>
              <a:t>Un 301 de http a https es lo habitual: el servidor obliga a usar la conexión cifrada.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52060"/>
            <a:ext cx="9144000" cy="91440"/>
          </a:xfrm>
          <a:prstGeom prst="rect">
            <a:avLst/>
          </a:prstGeom>
          <a:solidFill>
            <a:srgbClr val="262626"/>
          </a:solidFill>
          <a:ln w="12700">
            <a:solidFill>
              <a:srgbClr val="262626"/>
            </a:solidFill>
            <a:prstDash val="solid"/>
          </a:ln>
        </p:spPr>
      </p:sp>
      <p:sp>
        <p:nvSpPr>
          <p:cNvPr id="3" name="Text 1"/>
          <p:cNvSpPr txBox="1"/>
          <p:nvPr/>
        </p:nvSpPr>
        <p:spPr>
          <a:xfrm>
            <a:off x="8412480" y="4709160"/>
            <a:ext cx="457200" cy="27432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9</a:t>
            </a:r>
            <a:endParaRPr lang="en-US" sz="900" dirty="0"/>
          </a:p>
        </p:txBody>
      </p:sp>
      <p:sp>
        <p:nvSpPr>
          <p:cNvPr id="4" name="Text 2"/>
          <p:cNvSpPr txBox="1"/>
          <p:nvPr/>
        </p:nvSpPr>
        <p:spPr>
          <a:xfrm>
            <a:off x="457200" y="182880"/>
            <a:ext cx="8229600" cy="228600"/>
          </a:xfrm>
          <a:prstGeom prst="rect">
            <a:avLst/>
          </a:prstGeom>
          <a:noFill/>
          <a:ln/>
        </p:spPr>
        <p:txBody>
          <a:bodyPr wrap="square" lIns="0" tIns="0" rIns="0" bIns="0" rtlCol="0" anchor="ctr"/>
          <a:lstStyle/>
          <a:p>
            <a:pPr indent="0" marL="0">
              <a:buNone/>
            </a:pPr>
            <a:r>
              <a:rPr lang="en-US" sz="1000" b="1" dirty="0">
                <a:solidFill>
                  <a:srgbClr val="0E8420"/>
                </a:solidFill>
                <a:latin typeface="Arial" pitchFamily="34" charset="0"/>
                <a:ea typeface="Arial" pitchFamily="34" charset="-122"/>
                <a:cs typeface="Arial" pitchFamily="34" charset="-120"/>
              </a:rPr>
              <a:t>Bloque 2 · HTTP por dentro</a:t>
            </a:r>
            <a:endParaRPr lang="en-US" sz="1000" dirty="0"/>
          </a:p>
        </p:txBody>
      </p:sp>
      <p:sp>
        <p:nvSpPr>
          <p:cNvPr id="5" name="Text 3"/>
          <p:cNvSpPr txBox="1"/>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Mirar las cabeceras con curl -I</a:t>
            </a:r>
            <a:endParaRPr lang="en-US" sz="2600" dirty="0"/>
          </a:p>
        </p:txBody>
      </p:sp>
      <p:sp>
        <p:nvSpPr>
          <p:cNvPr id="6" name="Text 4"/>
          <p:cNvSpPr txBox="1"/>
          <p:nvPr/>
        </p:nvSpPr>
        <p:spPr>
          <a:xfrm>
            <a:off x="457200" y="9144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-I pide solo las cabeceras, sin la página</a:t>
            </a:r>
            <a:endParaRPr lang="en-US" sz="1200" dirty="0"/>
          </a:p>
        </p:txBody>
      </p:sp>
      <p:sp>
        <p:nvSpPr>
          <p:cNvPr id="7" name="Shape 5"/>
          <p:cNvSpPr/>
          <p:nvPr/>
        </p:nvSpPr>
        <p:spPr>
          <a:xfrm>
            <a:off x="457200" y="1280160"/>
            <a:ext cx="4206240" cy="1737360"/>
          </a:xfrm>
          <a:prstGeom prst="rect">
            <a:avLst/>
          </a:prstGeom>
          <a:solidFill>
            <a:srgbClr val="262626"/>
          </a:solidFill>
          <a:ln w="12700">
            <a:solidFill>
              <a:srgbClr val="262626"/>
            </a:solidFill>
            <a:prstDash val="solid"/>
          </a:ln>
        </p:spPr>
      </p:sp>
      <p:sp>
        <p:nvSpPr>
          <p:cNvPr id="8" name="Text 6"/>
          <p:cNvSpPr txBox="1"/>
          <p:nvPr/>
        </p:nvSpPr>
        <p:spPr>
          <a:xfrm>
            <a:off x="594360" y="1371600"/>
            <a:ext cx="3931920" cy="1554480"/>
          </a:xfrm>
          <a:prstGeom prst="rect">
            <a:avLst/>
          </a:prstGeom>
          <a:noFill/>
          <a:ln/>
        </p:spPr>
        <p:txBody>
          <a:bodyPr wrap="square" lIns="0" tIns="0" rIns="0" bIns="0" rtlCol="0" anchor="t"/>
          <a:lstStyle/>
          <a:p>
            <a:pPr indent="0" marL="0">
              <a:buNone/>
            </a:pPr>
            <a:r>
              <a:rPr lang="en-US" sz="1100" dirty="0">
                <a:solidFill>
                  <a:srgbClr val="62A36C"/>
                </a:solidFill>
                <a:latin typeface="Courier New" pitchFamily="34" charset="0"/>
                <a:ea typeface="Courier New" pitchFamily="34" charset="-122"/>
                <a:cs typeface="Courier New" pitchFamily="34" charset="-120"/>
              </a:rPr>
              <a:t>$ curl -I http://www.ejemplo.es</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HTTP/1.1 301 Moved Permanently</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Location: https://www.ejemplo.es/</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Server: nginx</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Content-Type: text/html</a:t>
            </a:r>
            <a:endParaRPr lang="en-US" sz="1100" dirty="0"/>
          </a:p>
        </p:txBody>
      </p:sp>
      <p:sp>
        <p:nvSpPr>
          <p:cNvPr id="9" name="Text 7"/>
          <p:cNvSpPr txBox="1"/>
          <p:nvPr/>
        </p:nvSpPr>
        <p:spPr>
          <a:xfrm>
            <a:off x="4937760" y="1325880"/>
            <a:ext cx="3749040" cy="173736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Server: </a:t>
            </a:r>
            <a:pPr indent="0" marL="0">
              <a:buNone/>
            </a:pPr>
            <a:r>
              <a:rPr lang="en-US" sz="1300" dirty="0">
                <a:solidFill>
                  <a:srgbClr val="111111"/>
                </a:solidFill>
                <a:latin typeface="Arial" pitchFamily="34" charset="0"/>
                <a:ea typeface="Arial" pitchFamily="34" charset="-122"/>
                <a:cs typeface="Arial" pitchFamily="34" charset="-120"/>
              </a:rPr>
              <a:t>qué software responde. Muchos lo ocultan, por seguridad.</a:t>
            </a:r>
            <a:endParaRPr lang="en-US" sz="1300" dirty="0"/>
          </a:p>
          <a:p>
            <a:pPr indent="0" marL="0">
              <a:buNone/>
            </a:pPr>
            <a:r>
              <a:rPr lang="en-US" sz="600" dirty="0">
                <a:solidFill>
                  <a:srgbClr val="111111"/>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111111"/>
                </a:solidFill>
                <a:latin typeface="Arial" pitchFamily="34" charset="0"/>
                <a:ea typeface="Arial" pitchFamily="34" charset="-122"/>
                <a:cs typeface="Arial" pitchFamily="34" charset="-120"/>
              </a:rPr>
              <a:t>Content-Type: </a:t>
            </a:r>
            <a:pPr indent="0" marL="0">
              <a:buNone/>
            </a:pPr>
            <a:r>
              <a:rPr lang="en-US" sz="1300" dirty="0">
                <a:solidFill>
                  <a:srgbClr val="111111"/>
                </a:solidFill>
                <a:latin typeface="Arial" pitchFamily="34" charset="0"/>
                <a:ea typeface="Arial" pitchFamily="34" charset="-122"/>
                <a:cs typeface="Arial" pitchFamily="34" charset="-120"/>
              </a:rPr>
              <a:t>qué tipo de contenido llega.</a:t>
            </a:r>
            <a:endParaRPr lang="en-US" sz="1300" dirty="0"/>
          </a:p>
          <a:p>
            <a:pPr indent="0" marL="0">
              <a:buNone/>
            </a:pPr>
            <a:r>
              <a:rPr lang="en-US" sz="600" dirty="0">
                <a:solidFill>
                  <a:srgbClr val="111111"/>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111111"/>
                </a:solidFill>
                <a:latin typeface="Arial" pitchFamily="34" charset="0"/>
                <a:ea typeface="Arial" pitchFamily="34" charset="-122"/>
                <a:cs typeface="Arial" pitchFamily="34" charset="-120"/>
              </a:rPr>
              <a:t>Location: </a:t>
            </a:r>
            <a:pPr indent="0" marL="0">
              <a:buNone/>
            </a:pPr>
            <a:r>
              <a:rPr lang="en-US" sz="1300" dirty="0">
                <a:solidFill>
                  <a:srgbClr val="111111"/>
                </a:solidFill>
                <a:latin typeface="Arial" pitchFamily="34" charset="0"/>
                <a:ea typeface="Arial" pitchFamily="34" charset="-122"/>
                <a:cs typeface="Arial" pitchFamily="34" charset="-120"/>
              </a:rPr>
              <a:t>a qué dirección te redirige un 3xx.</a:t>
            </a:r>
            <a:endParaRPr lang="en-US" sz="1300" dirty="0"/>
          </a:p>
        </p:txBody>
      </p:sp>
      <p:sp>
        <p:nvSpPr>
          <p:cNvPr id="10" name="Shape 8"/>
          <p:cNvSpPr/>
          <p:nvPr/>
        </p:nvSpPr>
        <p:spPr>
          <a:xfrm>
            <a:off x="457200" y="4343400"/>
            <a:ext cx="8229600" cy="411480"/>
          </a:xfrm>
          <a:prstGeom prst="rect">
            <a:avLst/>
          </a:prstGeom>
          <a:solidFill>
            <a:srgbClr val="0E8420"/>
          </a:solidFill>
          <a:ln w="12700">
            <a:solidFill>
              <a:srgbClr val="0E8420"/>
            </a:solidFill>
            <a:prstDash val="solid"/>
          </a:ln>
        </p:spPr>
      </p:sp>
      <p:sp>
        <p:nvSpPr>
          <p:cNvPr id="11" name="Text 9"/>
          <p:cNvSpPr txBox="1"/>
          <p:nvPr/>
        </p:nvSpPr>
        <p:spPr>
          <a:xfrm>
            <a:off x="640080" y="4343400"/>
            <a:ext cx="786384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Ejercicio 2 · Una respuesta HTTP por dentro · 8 minutos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52060"/>
            <a:ext cx="9144000" cy="91440"/>
          </a:xfrm>
          <a:prstGeom prst="rect">
            <a:avLst/>
          </a:prstGeom>
          <a:solidFill>
            <a:srgbClr val="262626"/>
          </a:solidFill>
          <a:ln w="12700">
            <a:solidFill>
              <a:srgbClr val="262626"/>
            </a:solidFill>
            <a:prstDash val="solid"/>
          </a:ln>
        </p:spPr>
      </p:sp>
      <p:sp>
        <p:nvSpPr>
          <p:cNvPr id="3" name="Text 1"/>
          <p:cNvSpPr txBox="1"/>
          <p:nvPr/>
        </p:nvSpPr>
        <p:spPr>
          <a:xfrm>
            <a:off x="8412480" y="4709160"/>
            <a:ext cx="457200" cy="27432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10</a:t>
            </a:r>
            <a:endParaRPr lang="en-US" sz="900" dirty="0"/>
          </a:p>
        </p:txBody>
      </p:sp>
      <p:sp>
        <p:nvSpPr>
          <p:cNvPr id="4" name="Text 2"/>
          <p:cNvSpPr txBox="1"/>
          <p:nvPr/>
        </p:nvSpPr>
        <p:spPr>
          <a:xfrm>
            <a:off x="457200" y="182880"/>
            <a:ext cx="8229600" cy="228600"/>
          </a:xfrm>
          <a:prstGeom prst="rect">
            <a:avLst/>
          </a:prstGeom>
          <a:noFill/>
          <a:ln/>
        </p:spPr>
        <p:txBody>
          <a:bodyPr wrap="square" lIns="0" tIns="0" rIns="0" bIns="0" rtlCol="0" anchor="ctr"/>
          <a:lstStyle/>
          <a:p>
            <a:pPr indent="0" marL="0">
              <a:buNone/>
            </a:pPr>
            <a:r>
              <a:rPr lang="en-US" sz="1000" b="1" dirty="0">
                <a:solidFill>
                  <a:srgbClr val="0E8420"/>
                </a:solidFill>
                <a:latin typeface="Arial" pitchFamily="34" charset="0"/>
                <a:ea typeface="Arial" pitchFamily="34" charset="-122"/>
                <a:cs typeface="Arial" pitchFamily="34" charset="-120"/>
              </a:rPr>
              <a:t>Bloque 3 · Las piezas de LAMP</a:t>
            </a:r>
            <a:endParaRPr lang="en-US" sz="1000" dirty="0"/>
          </a:p>
        </p:txBody>
      </p:sp>
      <p:sp>
        <p:nvSpPr>
          <p:cNvPr id="5" name="Text 3"/>
          <p:cNvSpPr txBox="1"/>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Las cuatro piezas de un servidor LAMP</a:t>
            </a:r>
            <a:endParaRPr lang="en-US" sz="2600" dirty="0"/>
          </a:p>
        </p:txBody>
      </p:sp>
      <p:sp>
        <p:nvSpPr>
          <p:cNvPr id="6" name="Shape 4"/>
          <p:cNvSpPr/>
          <p:nvPr/>
        </p:nvSpPr>
        <p:spPr>
          <a:xfrm>
            <a:off x="457200" y="1188720"/>
            <a:ext cx="1828800" cy="2194560"/>
          </a:xfrm>
          <a:prstGeom prst="rect">
            <a:avLst/>
          </a:prstGeom>
          <a:solidFill>
            <a:srgbClr val="F3F3F3"/>
          </a:solidFill>
          <a:ln w="12700">
            <a:solidFill>
              <a:srgbClr val="D9D9D9"/>
            </a:solidFill>
            <a:prstDash val="solid"/>
          </a:ln>
        </p:spPr>
      </p:sp>
      <p:sp>
        <p:nvSpPr>
          <p:cNvPr id="7" name="Text 5"/>
          <p:cNvSpPr txBox="1"/>
          <p:nvPr/>
        </p:nvSpPr>
        <p:spPr>
          <a:xfrm>
            <a:off x="594360" y="1280160"/>
            <a:ext cx="1554480" cy="320040"/>
          </a:xfrm>
          <a:prstGeom prst="rect">
            <a:avLst/>
          </a:prstGeom>
          <a:noFill/>
          <a:ln/>
        </p:spPr>
        <p:txBody>
          <a:bodyPr wrap="square" lIns="0" tIns="0" rIns="0" bIns="0" rtlCol="0" anchor="t"/>
          <a:lstStyle/>
          <a:p>
            <a:pPr indent="0" marL="0">
              <a:buNone/>
            </a:pPr>
            <a:r>
              <a:rPr lang="en-US" sz="1400" b="1" dirty="0">
                <a:solidFill>
                  <a:srgbClr val="0E8420"/>
                </a:solidFill>
                <a:latin typeface="Arial" pitchFamily="34" charset="0"/>
                <a:ea typeface="Arial" pitchFamily="34" charset="-122"/>
                <a:cs typeface="Arial" pitchFamily="34" charset="-120"/>
              </a:rPr>
              <a:t>L · Linux</a:t>
            </a:r>
            <a:endParaRPr lang="en-US" sz="1400" dirty="0"/>
          </a:p>
        </p:txBody>
      </p:sp>
      <p:sp>
        <p:nvSpPr>
          <p:cNvPr id="8" name="Text 6"/>
          <p:cNvSpPr txBox="1"/>
          <p:nvPr/>
        </p:nvSpPr>
        <p:spPr>
          <a:xfrm>
            <a:off x="594360" y="1645920"/>
            <a:ext cx="1554480" cy="1645920"/>
          </a:xfrm>
          <a:prstGeom prst="rect">
            <a:avLst/>
          </a:prstGeom>
          <a:noFill/>
          <a:ln/>
        </p:spPr>
        <p:txBody>
          <a:bodyPr wrap="square" lIns="0" tIns="0" rIns="0" bIns="0" rtlCol="0" anchor="t"/>
          <a:lstStyle/>
          <a:p>
            <a:pPr indent="0" marL="0">
              <a:spcAft>
                <a:spcPts val="400"/>
              </a:spcAft>
              <a:buNone/>
            </a:pPr>
            <a:r>
              <a:rPr lang="en-US" sz="1200" dirty="0">
                <a:solidFill>
                  <a:srgbClr val="111111"/>
                </a:solidFill>
                <a:latin typeface="Arial" pitchFamily="34" charset="0"/>
                <a:ea typeface="Arial" pitchFamily="34" charset="-122"/>
                <a:cs typeface="Arial" pitchFamily="34" charset="-120"/>
              </a:rPr>
              <a:t>El sistema operativo. Nosotros: Ubuntu Server.</a:t>
            </a:r>
            <a:endParaRPr lang="en-US" sz="1200" dirty="0"/>
          </a:p>
        </p:txBody>
      </p:sp>
      <p:sp>
        <p:nvSpPr>
          <p:cNvPr id="9" name="Shape 7"/>
          <p:cNvSpPr/>
          <p:nvPr/>
        </p:nvSpPr>
        <p:spPr>
          <a:xfrm>
            <a:off x="2560320" y="1188720"/>
            <a:ext cx="1828800" cy="2194560"/>
          </a:xfrm>
          <a:prstGeom prst="rect">
            <a:avLst/>
          </a:prstGeom>
          <a:solidFill>
            <a:srgbClr val="F3F3F3"/>
          </a:solidFill>
          <a:ln w="12700">
            <a:solidFill>
              <a:srgbClr val="D9D9D9"/>
            </a:solidFill>
            <a:prstDash val="solid"/>
          </a:ln>
        </p:spPr>
      </p:sp>
      <p:sp>
        <p:nvSpPr>
          <p:cNvPr id="10" name="Text 8"/>
          <p:cNvSpPr txBox="1"/>
          <p:nvPr/>
        </p:nvSpPr>
        <p:spPr>
          <a:xfrm>
            <a:off x="2697480" y="1280160"/>
            <a:ext cx="1554480" cy="320040"/>
          </a:xfrm>
          <a:prstGeom prst="rect">
            <a:avLst/>
          </a:prstGeom>
          <a:noFill/>
          <a:ln/>
        </p:spPr>
        <p:txBody>
          <a:bodyPr wrap="square" lIns="0" tIns="0" rIns="0" bIns="0" rtlCol="0" anchor="t"/>
          <a:lstStyle/>
          <a:p>
            <a:pPr indent="0" marL="0">
              <a:buNone/>
            </a:pPr>
            <a:r>
              <a:rPr lang="en-US" sz="1400" b="1" dirty="0">
                <a:solidFill>
                  <a:srgbClr val="0E8420"/>
                </a:solidFill>
                <a:latin typeface="Arial" pitchFamily="34" charset="0"/>
                <a:ea typeface="Arial" pitchFamily="34" charset="-122"/>
                <a:cs typeface="Arial" pitchFamily="34" charset="-120"/>
              </a:rPr>
              <a:t>A · Apache</a:t>
            </a:r>
            <a:endParaRPr lang="en-US" sz="1400" dirty="0"/>
          </a:p>
        </p:txBody>
      </p:sp>
      <p:sp>
        <p:nvSpPr>
          <p:cNvPr id="11" name="Text 9"/>
          <p:cNvSpPr txBox="1"/>
          <p:nvPr/>
        </p:nvSpPr>
        <p:spPr>
          <a:xfrm>
            <a:off x="2697480" y="1645920"/>
            <a:ext cx="1554480" cy="1645920"/>
          </a:xfrm>
          <a:prstGeom prst="rect">
            <a:avLst/>
          </a:prstGeom>
          <a:noFill/>
          <a:ln/>
        </p:spPr>
        <p:txBody>
          <a:bodyPr wrap="square" lIns="0" tIns="0" rIns="0" bIns="0" rtlCol="0" anchor="t"/>
          <a:lstStyle/>
          <a:p>
            <a:pPr indent="0" marL="0">
              <a:spcAft>
                <a:spcPts val="400"/>
              </a:spcAft>
              <a:buNone/>
            </a:pPr>
            <a:r>
              <a:rPr lang="en-US" sz="1200" dirty="0">
                <a:solidFill>
                  <a:srgbClr val="111111"/>
                </a:solidFill>
                <a:latin typeface="Arial" pitchFamily="34" charset="0"/>
                <a:ea typeface="Arial" pitchFamily="34" charset="-122"/>
                <a:cs typeface="Arial" pitchFamily="34" charset="-120"/>
              </a:rPr>
              <a:t>El servidor web: recibe las peticiones y responde.</a:t>
            </a:r>
            <a:endParaRPr lang="en-US" sz="1200" dirty="0"/>
          </a:p>
        </p:txBody>
      </p:sp>
      <p:sp>
        <p:nvSpPr>
          <p:cNvPr id="12" name="Shape 10"/>
          <p:cNvSpPr/>
          <p:nvPr/>
        </p:nvSpPr>
        <p:spPr>
          <a:xfrm>
            <a:off x="4663440" y="1188720"/>
            <a:ext cx="1828800" cy="2194560"/>
          </a:xfrm>
          <a:prstGeom prst="rect">
            <a:avLst/>
          </a:prstGeom>
          <a:solidFill>
            <a:srgbClr val="F3F3F3"/>
          </a:solidFill>
          <a:ln w="12700">
            <a:solidFill>
              <a:srgbClr val="D9D9D9"/>
            </a:solidFill>
            <a:prstDash val="solid"/>
          </a:ln>
        </p:spPr>
      </p:sp>
      <p:sp>
        <p:nvSpPr>
          <p:cNvPr id="13" name="Text 11"/>
          <p:cNvSpPr txBox="1"/>
          <p:nvPr/>
        </p:nvSpPr>
        <p:spPr>
          <a:xfrm>
            <a:off x="4800600" y="1280160"/>
            <a:ext cx="1554480" cy="320040"/>
          </a:xfrm>
          <a:prstGeom prst="rect">
            <a:avLst/>
          </a:prstGeom>
          <a:noFill/>
          <a:ln/>
        </p:spPr>
        <p:txBody>
          <a:bodyPr wrap="square" lIns="0" tIns="0" rIns="0" bIns="0" rtlCol="0" anchor="t"/>
          <a:lstStyle/>
          <a:p>
            <a:pPr indent="0" marL="0">
              <a:buNone/>
            </a:pPr>
            <a:r>
              <a:rPr lang="en-US" sz="1400" b="1" dirty="0">
                <a:solidFill>
                  <a:srgbClr val="0E8420"/>
                </a:solidFill>
                <a:latin typeface="Arial" pitchFamily="34" charset="0"/>
                <a:ea typeface="Arial" pitchFamily="34" charset="-122"/>
                <a:cs typeface="Arial" pitchFamily="34" charset="-120"/>
              </a:rPr>
              <a:t>M · MySQL</a:t>
            </a:r>
            <a:endParaRPr lang="en-US" sz="1400" dirty="0"/>
          </a:p>
        </p:txBody>
      </p:sp>
      <p:sp>
        <p:nvSpPr>
          <p:cNvPr id="14" name="Text 12"/>
          <p:cNvSpPr txBox="1"/>
          <p:nvPr/>
        </p:nvSpPr>
        <p:spPr>
          <a:xfrm>
            <a:off x="4800600" y="1645920"/>
            <a:ext cx="1554480" cy="1645920"/>
          </a:xfrm>
          <a:prstGeom prst="rect">
            <a:avLst/>
          </a:prstGeom>
          <a:noFill/>
          <a:ln/>
        </p:spPr>
        <p:txBody>
          <a:bodyPr wrap="square" lIns="0" tIns="0" rIns="0" bIns="0" rtlCol="0" anchor="t"/>
          <a:lstStyle/>
          <a:p>
            <a:pPr indent="0" marL="0">
              <a:spcAft>
                <a:spcPts val="400"/>
              </a:spcAft>
              <a:buNone/>
            </a:pPr>
            <a:r>
              <a:rPr lang="en-US" sz="1200" dirty="0">
                <a:solidFill>
                  <a:srgbClr val="111111"/>
                </a:solidFill>
                <a:latin typeface="Arial" pitchFamily="34" charset="0"/>
                <a:ea typeface="Arial" pitchFamily="34" charset="-122"/>
                <a:cs typeface="Arial" pitchFamily="34" charset="-120"/>
              </a:rPr>
              <a:t>El gestor de bases de datos: guarda los datos.</a:t>
            </a:r>
            <a:endParaRPr lang="en-US" sz="1200" dirty="0"/>
          </a:p>
        </p:txBody>
      </p:sp>
      <p:sp>
        <p:nvSpPr>
          <p:cNvPr id="15" name="Shape 13"/>
          <p:cNvSpPr/>
          <p:nvPr/>
        </p:nvSpPr>
        <p:spPr>
          <a:xfrm>
            <a:off x="6766560" y="1188720"/>
            <a:ext cx="1828800" cy="2194560"/>
          </a:xfrm>
          <a:prstGeom prst="rect">
            <a:avLst/>
          </a:prstGeom>
          <a:solidFill>
            <a:srgbClr val="F3F3F3"/>
          </a:solidFill>
          <a:ln w="12700">
            <a:solidFill>
              <a:srgbClr val="D9D9D9"/>
            </a:solidFill>
            <a:prstDash val="solid"/>
          </a:ln>
        </p:spPr>
      </p:sp>
      <p:sp>
        <p:nvSpPr>
          <p:cNvPr id="16" name="Text 14"/>
          <p:cNvSpPr txBox="1"/>
          <p:nvPr/>
        </p:nvSpPr>
        <p:spPr>
          <a:xfrm>
            <a:off x="6903720" y="1280160"/>
            <a:ext cx="1554480" cy="320040"/>
          </a:xfrm>
          <a:prstGeom prst="rect">
            <a:avLst/>
          </a:prstGeom>
          <a:noFill/>
          <a:ln/>
        </p:spPr>
        <p:txBody>
          <a:bodyPr wrap="square" lIns="0" tIns="0" rIns="0" bIns="0" rtlCol="0" anchor="t"/>
          <a:lstStyle/>
          <a:p>
            <a:pPr indent="0" marL="0">
              <a:buNone/>
            </a:pPr>
            <a:r>
              <a:rPr lang="en-US" sz="1400" b="1" dirty="0">
                <a:solidFill>
                  <a:srgbClr val="0E8420"/>
                </a:solidFill>
                <a:latin typeface="Arial" pitchFamily="34" charset="0"/>
                <a:ea typeface="Arial" pitchFamily="34" charset="-122"/>
                <a:cs typeface="Arial" pitchFamily="34" charset="-120"/>
              </a:rPr>
              <a:t>P · PHP</a:t>
            </a:r>
            <a:endParaRPr lang="en-US" sz="1400" dirty="0"/>
          </a:p>
        </p:txBody>
      </p:sp>
      <p:sp>
        <p:nvSpPr>
          <p:cNvPr id="17" name="Text 15"/>
          <p:cNvSpPr txBox="1"/>
          <p:nvPr/>
        </p:nvSpPr>
        <p:spPr>
          <a:xfrm>
            <a:off x="6903720" y="1645920"/>
            <a:ext cx="1554480" cy="1645920"/>
          </a:xfrm>
          <a:prstGeom prst="rect">
            <a:avLst/>
          </a:prstGeom>
          <a:noFill/>
          <a:ln/>
        </p:spPr>
        <p:txBody>
          <a:bodyPr wrap="square" lIns="0" tIns="0" rIns="0" bIns="0" rtlCol="0" anchor="t"/>
          <a:lstStyle/>
          <a:p>
            <a:pPr indent="0" marL="0">
              <a:spcAft>
                <a:spcPts val="400"/>
              </a:spcAft>
              <a:buNone/>
            </a:pPr>
            <a:r>
              <a:rPr lang="en-US" sz="1200" dirty="0">
                <a:solidFill>
                  <a:srgbClr val="111111"/>
                </a:solidFill>
                <a:latin typeface="Arial" pitchFamily="34" charset="0"/>
                <a:ea typeface="Arial" pitchFamily="34" charset="-122"/>
                <a:cs typeface="Arial" pitchFamily="34" charset="-120"/>
              </a:rPr>
              <a:t>El lenguaje de servidor: genera las páginas dinámicas.</a:t>
            </a:r>
            <a:endParaRPr lang="en-US" sz="1200" dirty="0"/>
          </a:p>
        </p:txBody>
      </p:sp>
      <p:sp>
        <p:nvSpPr>
          <p:cNvPr id="18" name="Shape 16"/>
          <p:cNvSpPr/>
          <p:nvPr/>
        </p:nvSpPr>
        <p:spPr>
          <a:xfrm>
            <a:off x="457200" y="3611880"/>
            <a:ext cx="8229600" cy="548640"/>
          </a:xfrm>
          <a:prstGeom prst="rect">
            <a:avLst/>
          </a:prstGeom>
          <a:solidFill>
            <a:srgbClr val="EDF8EB"/>
          </a:solidFill>
          <a:ln w="12700">
            <a:solidFill>
              <a:srgbClr val="0E8420"/>
            </a:solidFill>
            <a:prstDash val="solid"/>
          </a:ln>
        </p:spPr>
      </p:sp>
      <p:sp>
        <p:nvSpPr>
          <p:cNvPr id="19" name="Text 17"/>
          <p:cNvSpPr txBox="1"/>
          <p:nvPr/>
        </p:nvSpPr>
        <p:spPr>
          <a:xfrm>
            <a:off x="640080" y="3611880"/>
            <a:ext cx="7863840" cy="548640"/>
          </a:xfrm>
          <a:prstGeom prst="rect">
            <a:avLst/>
          </a:prstGeom>
          <a:noFill/>
          <a:ln/>
        </p:spPr>
        <p:txBody>
          <a:bodyPr wrap="square" lIns="0" tIns="0" rIns="0" bIns="0" rtlCol="0" anchor="ctr"/>
          <a:lstStyle/>
          <a:p>
            <a:pPr indent="0" marL="0">
              <a:buNone/>
            </a:pPr>
            <a:r>
              <a:rPr lang="en-US" sz="1200" dirty="0">
                <a:solidFill>
                  <a:srgbClr val="111111"/>
                </a:solidFill>
                <a:latin typeface="Arial" pitchFamily="34" charset="0"/>
                <a:ea typeface="Arial" pitchFamily="34" charset="-122"/>
                <a:cs typeface="Arial" pitchFamily="34" charset="-120"/>
              </a:rPr>
              <a:t>Hay variantes: Nginx en vez de Apache (pila LEMP), o MariaDB en vez de MySQL. Las piezas cumplen el mismo papel.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52060"/>
            <a:ext cx="9144000" cy="91440"/>
          </a:xfrm>
          <a:prstGeom prst="rect">
            <a:avLst/>
          </a:prstGeom>
          <a:solidFill>
            <a:srgbClr val="262626"/>
          </a:solidFill>
          <a:ln w="12700">
            <a:solidFill>
              <a:srgbClr val="262626"/>
            </a:solidFill>
            <a:prstDash val="solid"/>
          </a:ln>
        </p:spPr>
      </p:sp>
      <p:sp>
        <p:nvSpPr>
          <p:cNvPr id="3" name="Text 1"/>
          <p:cNvSpPr txBox="1"/>
          <p:nvPr/>
        </p:nvSpPr>
        <p:spPr>
          <a:xfrm>
            <a:off x="8412480" y="4709160"/>
            <a:ext cx="457200" cy="27432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11</a:t>
            </a:r>
            <a:endParaRPr lang="en-US" sz="900" dirty="0"/>
          </a:p>
        </p:txBody>
      </p:sp>
      <p:sp>
        <p:nvSpPr>
          <p:cNvPr id="4" name="Text 2"/>
          <p:cNvSpPr txBox="1"/>
          <p:nvPr/>
        </p:nvSpPr>
        <p:spPr>
          <a:xfrm>
            <a:off x="457200" y="182880"/>
            <a:ext cx="8229600" cy="228600"/>
          </a:xfrm>
          <a:prstGeom prst="rect">
            <a:avLst/>
          </a:prstGeom>
          <a:noFill/>
          <a:ln/>
        </p:spPr>
        <p:txBody>
          <a:bodyPr wrap="square" lIns="0" tIns="0" rIns="0" bIns="0" rtlCol="0" anchor="ctr"/>
          <a:lstStyle/>
          <a:p>
            <a:pPr indent="0" marL="0">
              <a:buNone/>
            </a:pPr>
            <a:r>
              <a:rPr lang="en-US" sz="1000" b="1" dirty="0">
                <a:solidFill>
                  <a:srgbClr val="0E8420"/>
                </a:solidFill>
                <a:latin typeface="Arial" pitchFamily="34" charset="0"/>
                <a:ea typeface="Arial" pitchFamily="34" charset="-122"/>
                <a:cs typeface="Arial" pitchFamily="34" charset="-120"/>
              </a:rPr>
              <a:t>Bloque 3 · Las piezas de LAMP</a:t>
            </a:r>
            <a:endParaRPr lang="en-US" sz="1000" dirty="0"/>
          </a:p>
        </p:txBody>
      </p:sp>
      <p:sp>
        <p:nvSpPr>
          <p:cNvPr id="5" name="Text 3"/>
          <p:cNvSpPr txBox="1"/>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Y en Ubuntu, ¿qué se instala?</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120640" cy="914400"/>
        </p:xfrm>
        <a:graphic>
          <a:graphicData uri="http://schemas.openxmlformats.org/drawingml/2006/table">
            <a:tbl>
              <a:tblPr/>
              <a:tblGrid>
                <a:gridCol w="2011680"/>
                <a:gridCol w="310896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Paquete</a:t>
                      </a:r>
                      <a:endParaRPr lang="en-US" sz="12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0E842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Qué es</a:t>
                      </a:r>
                      <a:endParaRPr lang="en-US" sz="12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0E8420"/>
                    </a:solidFill>
                  </a:tcPr>
                </a:tc>
              </a:tr>
              <a:tr h="365760">
                <a:tc>
                  <a:txBody>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apache2</a:t>
                      </a:r>
                      <a:endParaRPr lang="en-US" sz="1200" dirty="0">
                        <a:latin typeface="Courier New" charset="0"/>
                        <a:ea typeface="Courier New" charset="0"/>
                        <a:cs typeface="Courier New"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El servidor web</a:t>
                      </a:r>
                      <a:endParaRPr lang="en-US" sz="12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365760">
                <a:tc>
                  <a:txBody>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mysql-server</a:t>
                      </a:r>
                      <a:endParaRPr lang="en-US" sz="1200" dirty="0">
                        <a:latin typeface="Courier New" charset="0"/>
                        <a:ea typeface="Courier New" charset="0"/>
                        <a:cs typeface="Courier New"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El servidor de bases de datos</a:t>
                      </a:r>
                      <a:endParaRPr lang="en-US" sz="12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365760">
                <a:tc>
                  <a:txBody>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php</a:t>
                      </a:r>
                      <a:endParaRPr lang="en-US" sz="1200" dirty="0">
                        <a:latin typeface="Courier New" charset="0"/>
                        <a:ea typeface="Courier New" charset="0"/>
                        <a:cs typeface="Courier New"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El intérprete de PHP</a:t>
                      </a:r>
                      <a:endParaRPr lang="en-US" sz="12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365760">
                <a:tc>
                  <a:txBody>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libapache2-mod-php</a:t>
                      </a:r>
                      <a:endParaRPr lang="en-US" sz="1200" dirty="0">
                        <a:latin typeface="Courier New" charset="0"/>
                        <a:ea typeface="Courier New" charset="0"/>
                        <a:cs typeface="Courier New"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El módulo que permite a Apache ejecutar PHP</a:t>
                      </a:r>
                      <a:endParaRPr lang="en-US" sz="12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365760">
                <a:tc>
                  <a:txBody>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php-mysql</a:t>
                      </a:r>
                      <a:endParaRPr lang="en-US" sz="1200" dirty="0">
                        <a:latin typeface="Courier New" charset="0"/>
                        <a:ea typeface="Courier New" charset="0"/>
                        <a:cs typeface="Courier New"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La extensión con la que PHP habla con MySQL</a:t>
                      </a:r>
                      <a:endParaRPr lang="en-US" sz="12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sp>
        <p:nvSpPr>
          <p:cNvPr id="7" name="Shape 4"/>
          <p:cNvSpPr/>
          <p:nvPr/>
        </p:nvSpPr>
        <p:spPr>
          <a:xfrm>
            <a:off x="5806440" y="1188720"/>
            <a:ext cx="2880360" cy="1463040"/>
          </a:xfrm>
          <a:prstGeom prst="rect">
            <a:avLst/>
          </a:prstGeom>
          <a:solidFill>
            <a:srgbClr val="262626"/>
          </a:solidFill>
          <a:ln w="12700">
            <a:solidFill>
              <a:srgbClr val="262626"/>
            </a:solidFill>
            <a:prstDash val="solid"/>
          </a:ln>
        </p:spPr>
      </p:sp>
      <p:sp>
        <p:nvSpPr>
          <p:cNvPr id="8" name="Text 5"/>
          <p:cNvSpPr txBox="1"/>
          <p:nvPr/>
        </p:nvSpPr>
        <p:spPr>
          <a:xfrm>
            <a:off x="5943600" y="1280160"/>
            <a:ext cx="2606040" cy="1280160"/>
          </a:xfrm>
          <a:prstGeom prst="rect">
            <a:avLst/>
          </a:prstGeom>
          <a:noFill/>
          <a:ln/>
        </p:spPr>
        <p:txBody>
          <a:bodyPr wrap="square" lIns="0" tIns="0" rIns="0" bIns="0" rtlCol="0" anchor="t"/>
          <a:lstStyle/>
          <a:p>
            <a:pPr indent="0" marL="0">
              <a:buNone/>
            </a:pPr>
            <a:r>
              <a:rPr lang="en-US" sz="1100" dirty="0">
                <a:solidFill>
                  <a:srgbClr val="62A36C"/>
                </a:solidFill>
                <a:latin typeface="Courier New" pitchFamily="34" charset="0"/>
                <a:ea typeface="Courier New" pitchFamily="34" charset="-122"/>
                <a:cs typeface="Courier New" pitchFamily="34" charset="-120"/>
              </a:rPr>
              <a:t>$ apt policy apache2</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apache2:</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Installed: (none)</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Candidate: 2.4.x</a:t>
            </a:r>
            <a:endParaRPr lang="en-US" sz="1100" dirty="0"/>
          </a:p>
        </p:txBody>
      </p:sp>
      <p:sp>
        <p:nvSpPr>
          <p:cNvPr id="9" name="Text 6"/>
          <p:cNvSpPr txBox="1"/>
          <p:nvPr/>
        </p:nvSpPr>
        <p:spPr>
          <a:xfrm>
            <a:off x="5806440" y="2743200"/>
            <a:ext cx="2880360" cy="274320"/>
          </a:xfrm>
          <a:prstGeom prst="rect">
            <a:avLst/>
          </a:prstGeom>
          <a:noFill/>
          <a:ln/>
        </p:spPr>
        <p:txBody>
          <a:bodyPr wrap="square" lIns="0" tIns="0" rIns="0" bIns="0" rtlCol="0" anchor="ctr"/>
          <a:lstStyle/>
          <a:p>
            <a:pPr indent="0" marL="0">
              <a:buNone/>
            </a:pPr>
            <a:r>
              <a:rPr lang="en-US" sz="1000" dirty="0">
                <a:solidFill>
                  <a:srgbClr val="666666"/>
                </a:solidFill>
                <a:latin typeface="Arial" pitchFamily="34" charset="0"/>
                <a:ea typeface="Arial" pitchFamily="34" charset="-122"/>
                <a:cs typeface="Arial" pitchFamily="34" charset="-120"/>
              </a:rPr>
              <a:t>En español: Instalados y Candidato.</a:t>
            </a:r>
            <a:endParaRPr lang="en-US" sz="1000" dirty="0"/>
          </a:p>
        </p:txBody>
      </p:sp>
      <p:sp>
        <p:nvSpPr>
          <p:cNvPr id="10" name="Shape 7"/>
          <p:cNvSpPr/>
          <p:nvPr/>
        </p:nvSpPr>
        <p:spPr>
          <a:xfrm>
            <a:off x="457200" y="4343400"/>
            <a:ext cx="8229600" cy="411480"/>
          </a:xfrm>
          <a:prstGeom prst="rect">
            <a:avLst/>
          </a:prstGeom>
          <a:solidFill>
            <a:srgbClr val="0E8420"/>
          </a:solidFill>
          <a:ln w="12700">
            <a:solidFill>
              <a:srgbClr val="0E8420"/>
            </a:solidFill>
            <a:prstDash val="solid"/>
          </a:ln>
        </p:spPr>
      </p:sp>
      <p:sp>
        <p:nvSpPr>
          <p:cNvPr id="11" name="Text 8"/>
          <p:cNvSpPr txBox="1"/>
          <p:nvPr/>
        </p:nvSpPr>
        <p:spPr>
          <a:xfrm>
            <a:off x="640080" y="4343400"/>
            <a:ext cx="786384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Ejercicio 3 · Qué software necesita un servidor web · 8 minutos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52060"/>
            <a:ext cx="9144000" cy="91440"/>
          </a:xfrm>
          <a:prstGeom prst="rect">
            <a:avLst/>
          </a:prstGeom>
          <a:solidFill>
            <a:srgbClr val="262626"/>
          </a:solidFill>
          <a:ln w="12700">
            <a:solidFill>
              <a:srgbClr val="262626"/>
            </a:solidFill>
            <a:prstDash val="solid"/>
          </a:ln>
        </p:spPr>
      </p:sp>
      <p:sp>
        <p:nvSpPr>
          <p:cNvPr id="3" name="Text 1"/>
          <p:cNvSpPr txBox="1"/>
          <p:nvPr/>
        </p:nvSpPr>
        <p:spPr>
          <a:xfrm>
            <a:off x="8412480" y="4709160"/>
            <a:ext cx="457200" cy="27432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12</a:t>
            </a:r>
            <a:endParaRPr lang="en-US" sz="900" dirty="0"/>
          </a:p>
        </p:txBody>
      </p:sp>
      <p:sp>
        <p:nvSpPr>
          <p:cNvPr id="4" name="Text 2"/>
          <p:cNvSpPr txBox="1"/>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El martes que viene</a:t>
            </a:r>
            <a:endParaRPr lang="en-US" sz="2600" dirty="0"/>
          </a:p>
        </p:txBody>
      </p:sp>
      <p:sp>
        <p:nvSpPr>
          <p:cNvPr id="5" name="Text 3"/>
          <p:cNvSpPr txBox="1"/>
          <p:nvPr/>
        </p:nvSpPr>
        <p:spPr>
          <a:xfrm>
            <a:off x="457200" y="9144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Arranca el proyecto de la UT1</a:t>
            </a:r>
            <a:endParaRPr lang="en-US" sz="1200" dirty="0"/>
          </a:p>
        </p:txBody>
      </p:sp>
      <p:sp>
        <p:nvSpPr>
          <p:cNvPr id="6" name="Shape 4"/>
          <p:cNvSpPr/>
          <p:nvPr/>
        </p:nvSpPr>
        <p:spPr>
          <a:xfrm>
            <a:off x="457200" y="1280160"/>
            <a:ext cx="8229600" cy="1463040"/>
          </a:xfrm>
          <a:prstGeom prst="rect">
            <a:avLst/>
          </a:prstGeom>
          <a:solidFill>
            <a:srgbClr val="F3F3F3"/>
          </a:solidFill>
          <a:ln w="12700">
            <a:solidFill>
              <a:srgbClr val="D9D9D9"/>
            </a:solidFill>
            <a:prstDash val="solid"/>
          </a:ln>
        </p:spPr>
      </p:sp>
      <p:sp>
        <p:nvSpPr>
          <p:cNvPr id="7" name="Text 5"/>
          <p:cNvSpPr txBox="1"/>
          <p:nvPr/>
        </p:nvSpPr>
        <p:spPr>
          <a:xfrm>
            <a:off x="594360" y="1371600"/>
            <a:ext cx="7955280" cy="320040"/>
          </a:xfrm>
          <a:prstGeom prst="rect">
            <a:avLst/>
          </a:prstGeom>
          <a:noFill/>
          <a:ln/>
        </p:spPr>
        <p:txBody>
          <a:bodyPr wrap="square" lIns="0" tIns="0" rIns="0" bIns="0" rtlCol="0" anchor="t"/>
          <a:lstStyle/>
          <a:p>
            <a:pPr indent="0" marL="0">
              <a:buNone/>
            </a:pPr>
            <a:r>
              <a:rPr lang="en-US" sz="1400" b="1" dirty="0">
                <a:solidFill>
                  <a:srgbClr val="0E8420"/>
                </a:solidFill>
                <a:latin typeface="Arial" pitchFamily="34" charset="0"/>
                <a:ea typeface="Arial" pitchFamily="34" charset="-122"/>
                <a:cs typeface="Arial" pitchFamily="34" charset="-120"/>
              </a:rPr>
              <a:t>Tu servidor, para tu primer cliente</a:t>
            </a:r>
            <a:endParaRPr lang="en-US" sz="1400" dirty="0"/>
          </a:p>
        </p:txBody>
      </p:sp>
      <p:sp>
        <p:nvSpPr>
          <p:cNvPr id="8" name="Text 6"/>
          <p:cNvSpPr txBox="1"/>
          <p:nvPr/>
        </p:nvSpPr>
        <p:spPr>
          <a:xfrm>
            <a:off x="594360" y="1737360"/>
            <a:ext cx="7955280" cy="91440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Instalamos estas piezas en tu máquina virtual.</a:t>
            </a:r>
            <a:endParaRPr lang="en-US" sz="1200" dirty="0"/>
          </a:p>
          <a:p>
            <a:pPr marL="152400" indent="-1524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Cada uno, para un cliente distinto: un servidor pequeño pero entero.</a:t>
            </a:r>
            <a:endParaRPr lang="en-US" sz="1200" dirty="0"/>
          </a:p>
        </p:txBody>
      </p:sp>
      <p:sp>
        <p:nvSpPr>
          <p:cNvPr id="9" name="Shape 7"/>
          <p:cNvSpPr/>
          <p:nvPr/>
        </p:nvSpPr>
        <p:spPr>
          <a:xfrm>
            <a:off x="457200" y="3017520"/>
            <a:ext cx="8229600" cy="457200"/>
          </a:xfrm>
          <a:prstGeom prst="rect">
            <a:avLst/>
          </a:prstGeom>
          <a:solidFill>
            <a:srgbClr val="EDF8EB"/>
          </a:solidFill>
          <a:ln w="12700">
            <a:solidFill>
              <a:srgbClr val="0E8420"/>
            </a:solidFill>
            <a:prstDash val="solid"/>
          </a:ln>
        </p:spPr>
      </p:sp>
      <p:sp>
        <p:nvSpPr>
          <p:cNvPr id="10" name="Text 8"/>
          <p:cNvSpPr txBox="1"/>
          <p:nvPr/>
        </p:nvSpPr>
        <p:spPr>
          <a:xfrm>
            <a:off x="640080" y="3017520"/>
            <a:ext cx="7863840" cy="457200"/>
          </a:xfrm>
          <a:prstGeom prst="rect">
            <a:avLst/>
          </a:prstGeom>
          <a:noFill/>
          <a:ln/>
        </p:spPr>
        <p:txBody>
          <a:bodyPr wrap="square" lIns="0" tIns="0" rIns="0" bIns="0" rtlCol="0" anchor="ctr"/>
          <a:lstStyle/>
          <a:p>
            <a:pPr indent="0" marL="0">
              <a:buNone/>
            </a:pPr>
            <a:r>
              <a:rPr lang="en-US" sz="1200" dirty="0">
                <a:solidFill>
                  <a:srgbClr val="111111"/>
                </a:solidFill>
                <a:latin typeface="Arial" pitchFamily="34" charset="0"/>
                <a:ea typeface="Arial" pitchFamily="34" charset="-122"/>
                <a:cs typeface="Arial" pitchFamily="34" charset="-120"/>
              </a:rPr>
              <a:t>Antes de irte: sube el PDF de los tres ejercicios y guarda tu máquina virtual.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2026-09-21T19:41:46Z</dcterms:created>
  <dcterms:modified xsi:type="dcterms:W3CDTF">2026-09-21T19:41:46Z</dcterms:modified>
</cp:coreProperties>
</file>