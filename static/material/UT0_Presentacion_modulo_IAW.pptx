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Primera sesión. Presentación breve; después equipos, máquina virtual a punto y, en la última hora, ejercicios que ya cuentan.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Equipos: los formo yo, mezclando en cada uno a alguien que se maneje con Linux. Pueden ajustarse más adelante.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ES_VILLAVER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5044745"/>
            <a:ext cx="9144000" cy="97841"/>
          </a:xfrm>
          <a:prstGeom prst="rect">
            <a:avLst/>
          </a:prstGeom>
          <a:solidFill>
            <a:srgbClr val="262626"/>
          </a:solidFill>
          <a:ln/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6262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58368"/>
            <a:ext cx="8046720" cy="32004"/>
          </a:xfrm>
          <a:prstGeom prst="rect">
            <a:avLst/>
          </a:prstGeom>
          <a:solidFill>
            <a:srgbClr val="62A36C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758952"/>
            <a:ext cx="8046720" cy="32004"/>
          </a:xfrm>
          <a:prstGeom prst="rect">
            <a:avLst/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1188720"/>
            <a:ext cx="80467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0376 Implantación de Aplicaciones Web</a:t>
            </a:r>
            <a:endParaRPr lang="en-US" sz="30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7830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del módulo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51460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Profesor: Carlos Fernández Pradales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78892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3B3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cfp269@educa.madrid.org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48640" y="3383280"/>
            <a:ext cx="8046720" cy="32004"/>
          </a:xfrm>
          <a:prstGeom prst="rect">
            <a:avLst/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9" name="Shape 7"/>
          <p:cNvSpPr/>
          <p:nvPr/>
        </p:nvSpPr>
        <p:spPr>
          <a:xfrm>
            <a:off x="548640" y="3483864"/>
            <a:ext cx="8046720" cy="32004"/>
          </a:xfrm>
          <a:prstGeom prst="rect">
            <a:avLst/>
          </a:prstGeom>
          <a:solidFill>
            <a:srgbClr val="62A36C"/>
          </a:solidFill>
          <a:ln/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548640" y="37033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B3B3B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2º ASIR · Curso 2026-2027 · IES Villaverde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B3B3B3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  <p:sp>
        <p:nvSpPr>
          <p:cNvPr id="26" name="TextBox 25"/>
          <p:cNvSpPr txBox="1"/>
          <p:nvPr/>
        </p:nvSpPr>
        <p:spPr>
          <a:xfrm>
            <a:off x="0" y="300000"/>
            <a:ext cx="9144000" cy="3000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62A36C"/>
                </a:solidFill>
                <a:latin typeface="Courier New"/>
              </a:rPr>
              <a:t>alumno@iaw</a:t>
            </a:r>
            <a:r>
              <a:rPr sz="1400" b="0">
                <a:solidFill>
                  <a:srgbClr val="B3B3B3"/>
                </a:solidFill>
                <a:latin typeface="Courier New"/>
              </a:rPr>
              <a:t>:~$ </a:t>
            </a:r>
            <a:r>
              <a:rPr sz="1400" b="0">
                <a:solidFill>
                  <a:srgbClr val="FFFFFF"/>
                </a:solidFill>
                <a:latin typeface="Courier New"/>
              </a:rPr>
              <a:t>sudo systemctl start curso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qué vamos a hablar hoy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10896" y="1234440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31089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841248" y="1234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este módulo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608576" y="1234440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7" name="Text 5"/>
          <p:cNvSpPr txBox="1"/>
          <p:nvPr/>
        </p:nvSpPr>
        <p:spPr>
          <a:xfrm>
            <a:off x="4608576" y="12344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5138928" y="123444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Unidades de trabajo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10896" y="1856232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10896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841248" y="18562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Temporalización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4608576" y="1856232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4608576" y="18562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138928" y="1856232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Metodología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310896" y="2478024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310896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841248" y="2478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608576" y="2478024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4608576" y="24780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5138928" y="2478024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de cada unidad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10896" y="3099816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310896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841248" y="30998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equipo y el coordinador</a:t>
            </a:r>
            <a:endParaRPr lang="en-US" sz="1500" dirty="0"/>
          </a:p>
        </p:txBody>
      </p:sp>
      <p:sp>
        <p:nvSpPr>
          <p:cNvPr id="24" name="Shape 22"/>
          <p:cNvSpPr/>
          <p:nvPr/>
        </p:nvSpPr>
        <p:spPr>
          <a:xfrm>
            <a:off x="4608576" y="3099816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4608576" y="30998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5138928" y="3099816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Entregas, copia y plagio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310896" y="3721608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28" name="Text 26"/>
          <p:cNvSpPr txBox="1"/>
          <p:nvPr/>
        </p:nvSpPr>
        <p:spPr>
          <a:xfrm>
            <a:off x="310896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841248" y="3721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</a:t>
            </a:r>
            <a:endParaRPr lang="en-US" sz="1500" dirty="0"/>
          </a:p>
        </p:txBody>
      </p:sp>
      <p:sp>
        <p:nvSpPr>
          <p:cNvPr id="30" name="Shape 28"/>
          <p:cNvSpPr/>
          <p:nvPr/>
        </p:nvSpPr>
        <p:spPr>
          <a:xfrm>
            <a:off x="4608576" y="3721608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31" name="Text 29"/>
          <p:cNvSpPr txBox="1"/>
          <p:nvPr/>
        </p:nvSpPr>
        <p:spPr>
          <a:xfrm>
            <a:off x="4608576" y="37216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5138928" y="3721608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Recuperación</a:t>
            </a:r>
            <a:endParaRPr lang="en-US" sz="1500" dirty="0"/>
          </a:p>
        </p:txBody>
      </p:sp>
      <p:sp>
        <p:nvSpPr>
          <p:cNvPr id="33" name="Shape 31"/>
          <p:cNvSpPr/>
          <p:nvPr/>
        </p:nvSpPr>
        <p:spPr>
          <a:xfrm>
            <a:off x="310896" y="4343400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34" name="Text 32"/>
          <p:cNvSpPr txBox="1"/>
          <p:nvPr/>
        </p:nvSpPr>
        <p:spPr>
          <a:xfrm>
            <a:off x="310896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200" dirty="0"/>
          </a:p>
        </p:txBody>
      </p:sp>
      <p:sp>
        <p:nvSpPr>
          <p:cNvPr id="35" name="Text 33"/>
          <p:cNvSpPr txBox="1"/>
          <p:nvPr/>
        </p:nvSpPr>
        <p:spPr>
          <a:xfrm>
            <a:off x="841248" y="4343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y materiales</a:t>
            </a:r>
            <a:endParaRPr lang="en-US" sz="1500" dirty="0"/>
          </a:p>
        </p:txBody>
      </p:sp>
      <p:sp>
        <p:nvSpPr>
          <p:cNvPr id="36" name="Shape 34"/>
          <p:cNvSpPr/>
          <p:nvPr/>
        </p:nvSpPr>
        <p:spPr>
          <a:xfrm>
            <a:off x="4608576" y="4343400"/>
            <a:ext cx="384048" cy="384048"/>
          </a:xfrm>
          <a:prstGeom prst="roundRect">
            <a:avLst>
              <a:gd name="adj" fmla="val 47619"/>
            </a:avLst>
          </a:prstGeom>
          <a:solidFill>
            <a:srgbClr val="F3F3F3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37" name="Text 35"/>
          <p:cNvSpPr txBox="1"/>
          <p:nvPr/>
        </p:nvSpPr>
        <p:spPr>
          <a:xfrm>
            <a:off x="4608576" y="43434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200" dirty="0"/>
          </a:p>
        </p:txBody>
      </p:sp>
      <p:sp>
        <p:nvSpPr>
          <p:cNvPr id="38" name="Text 36"/>
          <p:cNvSpPr txBox="1"/>
          <p:nvPr/>
        </p:nvSpPr>
        <p:spPr>
          <a:xfrm>
            <a:off x="5138928" y="4343400"/>
            <a:ext cx="35661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Preguntas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 a ir la clase de hoy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Tres horas: ninguna explicación mía pasa de 15 minutos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17043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310896" y="117043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813816" y="117043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Presentación del módulo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0" y="1170432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min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10896" y="1645920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10896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13816" y="1645920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evalúa y cómo trabajamos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0" y="1645920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10896" y="2121408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310896" y="21214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813816" y="2121408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y coordinador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121408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min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10896" y="2596896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310896" y="259689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813816" y="2596896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una aplicación web y demostración: «It works!»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0" y="2596896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 min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310896" y="3072384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310896" y="30723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813816" y="3072384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servidor: máquina virtual a punto, trabajo individual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400800" y="3072384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10896" y="3547872"/>
            <a:ext cx="347472" cy="347472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25" name="Text 23"/>
          <p:cNvSpPr txBox="1"/>
          <p:nvPr/>
        </p:nvSpPr>
        <p:spPr>
          <a:xfrm>
            <a:off x="310896" y="354787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13816" y="3547872"/>
            <a:ext cx="5760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Ejercicios: cliente, servidor y HTTP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6400800" y="3547872"/>
            <a:ext cx="243230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55 min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310896" y="420624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29" name="Text 27"/>
          <p:cNvSpPr txBox="1"/>
          <p:nvPr/>
        </p:nvSpPr>
        <p:spPr>
          <a:xfrm>
            <a:off x="539496" y="420624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Hoy solo cuentan los ejercicios de la última hora. Lo demás es para arrancar.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es este módulo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Implantación de aplicaciones web: módulo de 2º de ASIR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8016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93776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493776" y="1828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sesiones seguidas cada martes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64408" y="128016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3447288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9" name="Text 7"/>
          <p:cNvSpPr txBox="1"/>
          <p:nvPr/>
        </p:nvSpPr>
        <p:spPr>
          <a:xfrm>
            <a:off x="3447288" y="1828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unidades de trabajo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280160"/>
            <a:ext cx="2743200" cy="1005840"/>
          </a:xfrm>
          <a:prstGeom prst="roundRect">
            <a:avLst>
              <a:gd name="adj" fmla="val 5455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400800" y="1371600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0" y="1828800"/>
            <a:ext cx="2377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resultados de aprendizaje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" y="24688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qué le sirve este módulo a un administrador de sistemas: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310896" y="2788920"/>
            <a:ext cx="852220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Montar servidores web y de bases de datos: Apache, MySQL y PHP.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Instalar y administrar gestores de contenidos como WordPress.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Desplegar aplicaciones web para la empresa, como Nextcloud.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310896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 de 18:15 a 21:00.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Unidades de trabajo</a:t>
            </a:r>
            <a:endParaRPr lang="en-US" sz="2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" y="1234440"/>
          <a:ext cx="8522208" cy="2320000"/>
        </p:xfrm>
        <a:graphic>
          <a:graphicData uri="http://schemas.openxmlformats.org/drawingml/2006/table">
            <a:tbl>
              <a:tblPr/>
              <a:tblGrid>
                <a:gridCol w="914400"/>
                <a:gridCol w="5870448"/>
                <a:gridCol w="1737360"/>
              </a:tblGrid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Contenido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Evalúa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Instalación de servidores de aplicaciones web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Programación web en el servidor con PHP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Acceso a bases de datos desde PHP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Instalación de gestores de contenidos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RA2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UT5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Administración de gestores de contenidos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Adaptación de gestores de contenidos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0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Aplicaciones de ofimática web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310896" y="400000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5" name="Text 2"/>
          <p:cNvSpPr txBox="1"/>
          <p:nvPr/>
        </p:nvSpPr>
        <p:spPr>
          <a:xfrm>
            <a:off x="539496" y="400000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unidad evalúa un RA completo. El orden no sigue su número: primero PHP y bases de datos, porque los gestores de contenidos funcionan sobre ellos.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Temporalización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Reparto previsto de los periodos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10896" y="1280160"/>
          <a:ext cx="8522208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5230368"/>
                <a:gridCol w="173736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Evaluación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Unidades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Periodos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8420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UT0 presentación y equipos, UT1, UT2 y UT3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UT4, UT5, UT6 y UT7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≈ 30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3ª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de formación en empresa, desde marzo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11111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76200" marR="76200" marT="76200" marB="76200" anchor="ctr">
                    <a:lnL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D9D9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5" name="Text 2"/>
          <p:cNvSpPr txBox="1"/>
          <p:nvPr/>
        </p:nvSpPr>
        <p:spPr>
          <a:xfrm>
            <a:off x="310896" y="2926080"/>
            <a:ext cx="8522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módulo termina cuando el grupo sale a la fase de formación en empresa.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periodos son una estimación: se ajustarán cuando se confirme la fecha de salida.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310896" y="393192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</p:sp>
      <p:sp>
        <p:nvSpPr>
          <p:cNvPr id="7" name="Text 4"/>
          <p:cNvSpPr txBox="1"/>
          <p:nvPr/>
        </p:nvSpPr>
        <p:spPr>
          <a:xfrm>
            <a:off x="539496" y="393192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cerrar cada unidad revisaremos el calendario, y os avisaré en el aula virtual de cualquier cambio.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vamos a trabajar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Nunca explico más de 15 minutos seguidos: aquí se aprende montando servidores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34440"/>
            <a:ext cx="8522208" cy="603504"/>
          </a:xfrm>
          <a:prstGeom prst="roundRect">
            <a:avLst>
              <a:gd name="adj" fmla="val 909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39496" y="1234440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Martes, 18:15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108960" y="1234440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Teoría corta y ejercicio corto, alternando. Individual.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10896" y="1892808"/>
            <a:ext cx="8522208" cy="603504"/>
          </a:xfrm>
          <a:prstGeom prst="roundRect">
            <a:avLst>
              <a:gd name="adj" fmla="val 909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539496" y="1892808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Martes, 19:10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3108960" y="1892808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en equipo, pero cada uno en su máquina virtual.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310896" y="2551176"/>
            <a:ext cx="8522208" cy="603504"/>
          </a:xfrm>
          <a:prstGeom prst="roundRect">
            <a:avLst>
              <a:gd name="adj" fmla="val 909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" y="2551176"/>
            <a:ext cx="265176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Martes, 20:05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0" y="2551176"/>
            <a:ext cx="5486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Seguimos con el proyecto, o ejercicio corto si vamos adelantados.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310896" y="3273552"/>
            <a:ext cx="85222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ejercicios son cortos: comprobar, configurar o corregir algo en tu servidor.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ejercicios se suben al aula virtual al terminar la sesión y todos cuentan para la nota.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10896" y="4261104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539496" y="4261104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ordenadores del aula son compartidos y se pueden formatear: guarda tu máquina virtual al acabar.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Evaluación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califica por resultados de aprendizaje y criterios de evaluación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80160"/>
            <a:ext cx="2743200" cy="1417320"/>
          </a:xfrm>
          <a:prstGeom prst="roundRect">
            <a:avLst>
              <a:gd name="adj" fmla="val 387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493776" y="1371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25 %</a:t>
            </a:r>
            <a:endParaRPr lang="en-US" sz="2800" dirty="0"/>
          </a:p>
        </p:txBody>
      </p:sp>
      <p:sp>
        <p:nvSpPr>
          <p:cNvPr id="6" name="Text 4"/>
          <p:cNvSpPr txBox="1"/>
          <p:nvPr/>
        </p:nvSpPr>
        <p:spPr>
          <a:xfrm>
            <a:off x="493776" y="1874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Ejercicios de clase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493776" y="21762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Todos. La nota sale del total de ejercicios de la unidad.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264408" y="1280160"/>
            <a:ext cx="2743200" cy="1417320"/>
          </a:xfrm>
          <a:prstGeom prst="roundRect">
            <a:avLst>
              <a:gd name="adj" fmla="val 387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447288" y="1371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45 %</a:t>
            </a:r>
            <a:endParaRPr lang="en-US" sz="2800" dirty="0"/>
          </a:p>
        </p:txBody>
      </p:sp>
      <p:sp>
        <p:nvSpPr>
          <p:cNvPr id="10" name="Text 8"/>
          <p:cNvSpPr txBox="1"/>
          <p:nvPr/>
        </p:nvSpPr>
        <p:spPr>
          <a:xfrm>
            <a:off x="3447288" y="1874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Proyecto en equipo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447288" y="21762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 propio servidor, con tu caso de uso.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1280160"/>
            <a:ext cx="2743200" cy="1417320"/>
          </a:xfrm>
          <a:prstGeom prst="roundRect">
            <a:avLst>
              <a:gd name="adj" fmla="val 3871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6400800" y="137160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30 %</a:t>
            </a:r>
            <a:endParaRPr lang="en-US" sz="28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1874520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Prueba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6400800" y="2176272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Individual, al cerrar la unidad: cuestionario y parte práctica.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10896" y="2880360"/>
            <a:ext cx="852220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nota de cada RA se cierra al acabar su unidad y ya no se vuelve a tocar.</a:t>
            </a:r>
            <a:endParaRPr lang="en-US" sz="13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Hay que superar los siete RA: si queda uno sin superar, el módulo no está aprobado aunque la media dé 5.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10896" y="384048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539496" y="384048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Este es el reparto del RA1. Cada RA tiene el suyo, por escrito al empezar su unidad. Los simulacros no cuentan.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310896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Redondeo al alza salvo entre 4 y 5: una nota de 4,7 es un 4.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proyecto de cada unidad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trabaja en equipo, de principio a fin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80160"/>
            <a:ext cx="2743200" cy="2423160"/>
          </a:xfrm>
          <a:prstGeom prst="roundRect">
            <a:avLst>
              <a:gd name="adj" fmla="val 2264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5" name="Shape 3"/>
          <p:cNvSpPr/>
          <p:nvPr/>
        </p:nvSpPr>
        <p:spPr>
          <a:xfrm>
            <a:off x="493776" y="14173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493776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69264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el aula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493776" y="1920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Martes, segunda y tercera hora.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Equipos de cuatro o cinco, sentados juntos.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en su máquina virtual.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doy el guion de partida.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264408" y="1280160"/>
            <a:ext cx="2743200" cy="2423160"/>
          </a:xfrm>
          <a:prstGeom prst="roundRect">
            <a:avLst>
              <a:gd name="adj" fmla="val 2264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447288" y="14173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447288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922776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el proyecto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3447288" y="1920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persona monta un caso de uso: un servidor pequeño pero entero.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tareas van como tickets en el tablero del equipo.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coordinador reparte y escala los bloqueos.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217920" y="1280160"/>
            <a:ext cx="2743200" cy="2423160"/>
          </a:xfrm>
          <a:prstGeom prst="roundRect">
            <a:avLst>
              <a:gd name="adj" fmla="val 2264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15" name="Shape 13"/>
          <p:cNvSpPr/>
          <p:nvPr/>
        </p:nvSpPr>
        <p:spPr>
          <a:xfrm>
            <a:off x="6400800" y="1417320"/>
            <a:ext cx="365760" cy="365760"/>
          </a:xfrm>
          <a:prstGeom prst="roundRect">
            <a:avLst>
              <a:gd name="adj" fmla="val 50000"/>
            </a:avLst>
          </a:prstGeom>
          <a:solidFill>
            <a:srgbClr val="0E8420"/>
          </a:solidFill>
          <a:ln/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6400800" y="141732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76288" y="141732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Día de la entrega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400800" y="1920240"/>
            <a:ext cx="24231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Cada uno sube su documentación: es su nota.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coordinador sube la carpeta del equipo.</a:t>
            </a:r>
            <a:endParaRPr lang="en-US" sz="11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1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Demostración: cada uno enseña su servidor funcionando.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310896" y="388620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20" name="Text 18"/>
          <p:cNvSpPr txBox="1"/>
          <p:nvPr/>
        </p:nvSpPr>
        <p:spPr>
          <a:xfrm>
            <a:off x="539496" y="388620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reparto es por caso de uso, nunca por tareas: así cada persona pasa por todos los criterios del RA.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Cómo se organiza cada equipo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868680"/>
            <a:ext cx="8522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un servicio técnico de informática: tickets y tablero Kanban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10896" y="1280160"/>
            <a:ext cx="4114800" cy="2514600"/>
          </a:xfrm>
          <a:prstGeom prst="roundRect">
            <a:avLst>
              <a:gd name="adj" fmla="val 2182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39496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puestos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39496" y="178308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Profesor: responsable del servicio y segundo nivel. Recibe lo que el equipo no puede resolver.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Coordinador/a: jefe de equipo. Lo elige el equipo y cambia en cada unidad. En la UT1, mejor alguien que se maneje con Linux.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Técnicos: todos, coordinador incluido. Cada uno en su ordenador y su máquina virtual.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4718304" y="1280160"/>
            <a:ext cx="4114800" cy="2514600"/>
          </a:xfrm>
          <a:prstGeom prst="roundRect">
            <a:avLst>
              <a:gd name="adj" fmla="val 2182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4946904" y="1389888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Qué hace el coordinador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946904" y="1783080"/>
            <a:ext cx="36576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Reparte los tickets al empezar.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Lleva el tablero: abierto, en curso, bloqueado, cerrado.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Escala al profesor lo que lleva más de 5 minutos bloqueado.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Comprueba que todos suben su trabajo al acabar.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10896" y="3977640"/>
            <a:ext cx="8522208" cy="566928"/>
          </a:xfrm>
          <a:prstGeom prst="roundRect">
            <a:avLst>
              <a:gd name="adj" fmla="val 9677"/>
            </a:avLst>
          </a:prstGeom>
          <a:solidFill>
            <a:srgbClr val="EDF8EB"/>
          </a:solidFill>
          <a:ln w="12700">
            <a:solidFill>
              <a:srgbClr val="0E8420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539496" y="3977640"/>
            <a:ext cx="80650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 coordinador no da ni quita nota, y trabaja igual que los demás. Todo está en el manual de trabajo en equipo.</a:t>
            </a:r>
            <a:endParaRPr lang="en-US" sz="12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Entregas, copia y plagio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1280160"/>
            <a:ext cx="85222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Las prácticas se entregan por el aula virtual, en la fecha y la forma indicadas.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Copiar, dejar copiar o usar inteligencia artificial sin autorización: cero en esa prueba o práctica.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 las pruebas no se entra con más de 20 minutos de retraso, ni después de que alguien haya salido.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Una prueba no se repite por haber faltado, salvo justificación documentada.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10896" y="3520440"/>
            <a:ext cx="8522208" cy="685800"/>
          </a:xfrm>
          <a:prstGeom prst="roundRect">
            <a:avLst>
              <a:gd name="adj" fmla="val 8000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39496" y="3520440"/>
            <a:ext cx="80650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Preguntar dudas, buscar en la documentación y ayudar a un compañero a entender algo no es copiar: copiar es entregar como tuyo algo que no has escrito.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Asistencia y evaluación continua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1280160"/>
            <a:ext cx="852220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 evaluación continua exige asistir con regularidad: aquí se aprende montando servidores en clase.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 superar un número de faltas se pierde el derecho a la evaluación continua y se pasa a la prueba final.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algo no sale a la primera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10896" y="1280160"/>
            <a:ext cx="8522208" cy="868680"/>
          </a:xfrm>
          <a:prstGeom prst="roundRect">
            <a:avLst>
              <a:gd name="adj" fmla="val 6316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39496" y="135331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Durante el curso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3108960" y="1280160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RA no superados se recuperan con una prueba teórico-práctica de esos RA. La nota de la recuperación sustituye a la anterior.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10896" y="2304288"/>
            <a:ext cx="8522208" cy="868680"/>
          </a:xfrm>
          <a:prstGeom prst="roundRect">
            <a:avLst>
              <a:gd name="adj" fmla="val 6316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39496" y="2377440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Convocatoria ordinaria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108960" y="2304288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 examinas solo de los RA que tengas pendientes, no de todo el módulo.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310896" y="3328416"/>
            <a:ext cx="8522208" cy="868680"/>
          </a:xfrm>
          <a:prstGeom prst="roundRect">
            <a:avLst>
              <a:gd name="adj" fmla="val 6316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539496" y="340156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Convocatoria extraordinaria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3108960" y="3328416"/>
            <a:ext cx="5486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quien no supere la ordinaria, con los RA pendientes y un informe previo de qué repasar.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10896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 criterios prácticos pueden evaluarse con preguntas sobre el procedimiento en una prueba escrita.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Software y materiales</a:t>
            </a:r>
            <a:endParaRPr lang="en-US" sz="2400" dirty="0"/>
          </a:p>
        </p:txBody>
      </p:sp>
      <p:sp>
        <p:nvSpPr>
          <p:cNvPr id="3" name="Text 1"/>
          <p:cNvSpPr txBox="1"/>
          <p:nvPr/>
        </p:nvSpPr>
        <p:spPr>
          <a:xfrm>
            <a:off x="310896" y="128016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virtual con Ubuntu Server en los ordenadores del aula.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Aula virtual del módulo: apuntes, enunciados y entregas.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Memoria USB o disco propio para guardar tu trabajo.</a:t>
            </a:r>
            <a:endParaRPr lang="en-US" sz="140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hace falta comprar libro.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358384" y="1280160"/>
            <a:ext cx="3474720" cy="1234440"/>
          </a:xfrm>
          <a:prstGeom prst="roundRect">
            <a:avLst>
              <a:gd name="adj" fmla="val 3704"/>
            </a:avLst>
          </a:prstGeom>
          <a:solidFill>
            <a:srgbClr val="262626"/>
          </a:solidFill>
          <a:ln w="12700">
            <a:solidFill>
              <a:srgbClr val="D6DDE1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5486400" y="1371600"/>
            <a:ext cx="3218688" cy="1051560"/>
          </a:xfrm>
          <a:prstGeom prst="rect">
            <a:avLst/>
          </a:prstGeom>
          <a:solidFill>
            <a:srgbClr val="262626"/>
          </a:solidFill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2A3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curl -I localhost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HTTP/1.1 200 OK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62A36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php -v</a:t>
            </a:r>
            <a:endParaRPr lang="en-US" sz="120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PHP 8.x.x (cli)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5358384" y="269748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Documentación y práctica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358384" y="3017520"/>
            <a:ext cx="3474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httpd.apache.org/docs · php.net/manual/es</a:t>
            </a:r>
            <a:endParaRPr lang="en-US" sz="1250" dirty="0"/>
          </a:p>
          <a:p>
            <a:pPr marL="342900" indent="-342900">
              <a:lnSpc>
                <a:spcPct val="105000"/>
              </a:lnSpc>
              <a:spcAft>
                <a:spcPts val="600"/>
              </a:spcAft>
              <a:buSzPct val="100000"/>
              <a:buChar char="→"/>
            </a:pPr>
            <a:r>
              <a:rPr lang="en-US" sz="125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Apuntes y tareas del aula virtual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310896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 quieres montarlo en casa, VirtualBox y Ubuntu Server son gratuitos.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310896" y="329184"/>
            <a:ext cx="8522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¿Preguntas?</a:t>
            </a:r>
            <a:endParaRPr lang="en-US" sz="2400" dirty="0"/>
          </a:p>
        </p:txBody>
      </p:sp>
      <p:sp>
        <p:nvSpPr>
          <p:cNvPr id="3" name="Shape 1"/>
          <p:cNvSpPr/>
          <p:nvPr/>
        </p:nvSpPr>
        <p:spPr>
          <a:xfrm>
            <a:off x="310896" y="1371600"/>
            <a:ext cx="8522208" cy="1371600"/>
          </a:xfrm>
          <a:prstGeom prst="roundRect">
            <a:avLst>
              <a:gd name="adj" fmla="val 4000"/>
            </a:avLst>
          </a:prstGeom>
          <a:solidFill>
            <a:srgbClr val="F3F3F3"/>
          </a:solidFill>
          <a:ln w="12700">
            <a:solidFill>
              <a:srgbClr val="D9D9D9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85216" y="155448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842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Carlos Fernández Pradales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85216" y="196596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cfp269@educa.madrid.org · Aula virtual del módulo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310896" y="3017520"/>
            <a:ext cx="85222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11111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Ahora: formamos los equipos.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310896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0376 Implantación de Aplicaciones Web · 2º ASIR · Curso 2026-2027 · IES Villaverde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76488" y="4654296"/>
            <a:ext cx="50292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666666"/>
                </a:solidFill>
                <a:latin typeface="Arial"/>
                <a:ea typeface="Arial"/>
                <a:cs typeface="Arial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CMO.316 Programación en Python — Presentación del módulo</dc:title>
  <dc:subject>PptxGenJS Presentation</dc:subject>
  <dc:creator>Carlos Fernández Pradales</dc:creator>
  <cp:lastModifiedBy>Carlos Fernández Pradales</cp:lastModifiedBy>
  <cp:revision>1</cp:revision>
  <dcterms:created xsi:type="dcterms:W3CDTF">2026-09-21T09:42:19Z</dcterms:created>
  <dcterms:modified xsi:type="dcterms:W3CDTF">2026-09-21T09:42:19Z</dcterms:modified>
</cp:coreProperties>
</file>